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pic>
        <p:nvPicPr>
          <p:cNvPr id="10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4048"/>
            <a:ext cx="1572768" cy="950976"/>
          </a:xfrm>
          <a:prstGeom prst="rect">
            <a:avLst/>
          </a:prstGeom>
        </p:spPr>
      </p:pic>
      <p:pic>
        <p:nvPicPr>
          <p:cNvPr id="11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658368" cy="685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928" y="178308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DE FIN D'ÉTUDES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566928" y="219456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Système intelligent de gestion des rôles et</a:t>
            </a:r>
            <a:endParaRPr lang="en-US" sz="28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pointage avec tableau de bord décisionnel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566928" y="365760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6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Intelligence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566928" y="4169664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2"/>
          <p:cNvSpPr/>
          <p:nvPr/>
        </p:nvSpPr>
        <p:spPr>
          <a:xfrm>
            <a:off x="566928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Oussema Korbosli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66928" y="4956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Maître de stage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Melek Aziz Elmoula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66928" y="5257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Encadrant académique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Heni Abidi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66928" y="5815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BTK – Banque Tuniso-Koweïtienne   ·   Année universitaire 2025/2026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310128" cy="6858000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834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9776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9776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général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9776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9776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Spécifications des besoins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9776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9776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architecture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0924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0924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Volet décisionnel &amp; réalisation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0924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0924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artificielle &amp; démonstration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0924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0924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perspectives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01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11064240" cy="1481328"/>
          </a:xfrm>
          <a:prstGeom prst="roundRect">
            <a:avLst>
              <a:gd name="adj" fmla="val 3704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463040"/>
            <a:ext cx="101498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Une donnée dispersée ne décide rien : c'est en la consolidant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qu'elle devient un instrument de pilotage. »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66928" y="334670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200400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réseau de 45 agences réparties sur tout le territoire tunisien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385876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712464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éclatées entre plusieurs fichiers et applications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224528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besoin de piloter la performance commerciale et l'assiduité des équipes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88289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4736592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direction qui doit décider vite, sur des indicateurs fiables et à jour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53492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du projet : centraliser la gestion du réseau et transformer les données opérationnelles en indicateurs d'aide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 de l'organisme d'accueil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532120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_bt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643" y="1737360"/>
            <a:ext cx="963930" cy="1005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28529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BTK – Banque Tuniso-Koweïtienne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932688" y="34564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07008" y="33101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 universelle de droit tunisien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32688" y="39136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07008" y="37673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 le 25 février 1981 (coopération Tunisie – Koweït)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3268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07008" y="42245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social de 200 millions de dinars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32688" y="48280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07008" y="46817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social à Tunis, réseau national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446520" y="153619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EFFECTUÉ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446520" y="1847088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46520" y="1847088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8"/>
          <p:cNvSpPr/>
          <p:nvPr/>
        </p:nvSpPr>
        <p:spPr>
          <a:xfrm>
            <a:off x="6720840" y="1938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Département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720840" y="22677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46520" y="2907792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46520" y="2907792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2"/>
          <p:cNvSpPr/>
          <p:nvPr/>
        </p:nvSpPr>
        <p:spPr>
          <a:xfrm>
            <a:off x="6720840" y="29992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20840" y="33284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février → 16 juin 2026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6446520" y="3968496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46520" y="3968496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6"/>
          <p:cNvSpPr/>
          <p:nvPr/>
        </p:nvSpPr>
        <p:spPr>
          <a:xfrm>
            <a:off x="6720840" y="40599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720840" y="4389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mois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6446520" y="5029200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46520" y="5029200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0"/>
          <p:cNvSpPr/>
          <p:nvPr/>
        </p:nvSpPr>
        <p:spPr>
          <a:xfrm>
            <a:off x="6720840" y="51206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Encadrement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720840" y="54498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M. Melek Aziz Elmoula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réseau BTK en chiffres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997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474720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99632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9632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6291072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29 942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291072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15984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15984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9107424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107424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58368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ouverts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383280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280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3474720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3474720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 crédits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99632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9632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6291072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253 M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6291072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d'épargne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9015984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5984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7" name="Text 35"/>
          <p:cNvSpPr/>
          <p:nvPr/>
        </p:nvSpPr>
        <p:spPr>
          <a:xfrm>
            <a:off x="9107424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9107424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66928" y="541324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6928" y="54132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Chiffres issus du datamart réel produit par la chaîne ETL du projet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Problématiques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81051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105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572768" y="1572768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dispersées, saisies et consolidées manuellement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43200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80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80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72768" y="274320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suivi de la présence des employés sans traçabilité fiable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913632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15137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15137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72768" y="3913632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vision consolidée de la performance du réseau d'agences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321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321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572768" y="5084064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indicateurs de pilotage indisponibles au moment de décider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Étude de l'existant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5361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ENVISAGÉES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74520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9842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Tableurs Excel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3500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manuelle des données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008376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1181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Progiciel du marché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48386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intégrée sur étagère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42232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251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Développement sur mesure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6177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adaptée au métier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80644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37960" y="15361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CONSTATÉES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37960" y="1874520"/>
            <a:ext cx="5120640" cy="3145536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0" y="2249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0" y="21031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d'erreurs et de doublons de saisie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66560" y="2706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40880" y="25603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gestion des rôles ni des droits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766560" y="31638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0" y="30175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traçabilité des opérations sensibles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766560" y="36210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34747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élevé des progiciels du marché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76656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39319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 des indicateurs impossible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66928" y="5285232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5285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retenu : une solution développée sur mesure, alignée sur les processus réels de la BTK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proposée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41248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41248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des agences, employés, clients et objectifs · rôles et droits · pointage · circuits de validation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· Oracle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4617720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617720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617720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ETL consolidant les données dans un datamart en étoile, restitué par des tableaux de bord Power BI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617720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Power BI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8394192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394192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8394192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automatique des agences en profils homogènes pour un pilotage différencié du réseau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94192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solution, de la saisie opérationnelle jusqu'à l'aide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Méthodologie adoptée : CRISP-DM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centré sur les données : Scrum structure la production logicielle, mais ne couvre pas les étapes d'analyse et de valorisation des données.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1168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13969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6FC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487168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Compréhension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métier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423160" y="201168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23160" y="213969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6FC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496312" y="2487168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Compréhension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279392" y="201168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79392" y="213969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6FC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352544" y="2487168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Préparation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35624" y="201168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35624" y="213969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6FC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08776" y="2487168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991856" y="201168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91856" y="213969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6FC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065008" y="2487168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848088" y="201168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48088" y="213969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6FC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921240" y="2487168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66928" y="37033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CRISP-DM ?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416966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" y="4023360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 de référence des projets décisionnels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462686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" y="4480560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six phases épousent le déroulement réel du projet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66928" y="508406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1248" y="4937760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Pratiques agiles conservées : itérations et validations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537960" y="3950208"/>
            <a:ext cx="512064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84848" y="411480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Correspondance avec le rapport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784848" y="4480560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1–2  →  Chapitres 1 et 2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→  Chapitre 3 et chaîne ETL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4–5  →  Chapitre 4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 →  Chapitre 5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02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Spécifications des besoins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Identification des acteurs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901952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01952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68096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Administrateur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68096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41248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Gère les agences, les employés et les clients · valide les demandes · consulte le journal d'audit · supervise le volet décisionnel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5678424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78424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544568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Directeur commercial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544568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DIRECTEUR_COMMERCIAL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17720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Soumet les demandes de création · valide les modifications des employés · consulte les objectifs et les indicateurs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9454896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54896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321040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Utilisateur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321040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94192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 les données autorisées · effectue son pointage · soumet les demandes le concernant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6928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rôles sont gérés par le module de sécurité (table SECURITY_USERS) et conditionnent l'accès à chaque fonctionnalité.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 &amp; rôles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2704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sécurisée, gestion des droits d'accès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048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2823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5060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référentiel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15060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des agences, des employés et des clients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2704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Objectifs commerciaux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52704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la production par agence et par période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048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2823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642823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5060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 des employés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15060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 / départ, statut présent · retard · absent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467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52704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Circuits de validation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52704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Demandes soumises, validées ou refusées, journalisées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19048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823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34" name="Text 32"/>
          <p:cNvSpPr/>
          <p:nvPr/>
        </p:nvSpPr>
        <p:spPr>
          <a:xfrm>
            <a:off x="642823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15060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715060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ETL, tableaux de bord et segmentation des agences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non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41248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Authentification, rôles et workflows de validation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Fiabilité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garantie par le SGBD et les transactions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19872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9872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394192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94192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réponse adapté aux volumes manipulés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Ergonomie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1248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claire, navigation par menu latéral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343400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Maintenabilité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617720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en couches, code faiblement couplé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119872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19872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8394192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Portabilité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94192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Jakarta EE standard, serveur compatible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03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Conception &amp; architecture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logique en couches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664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6968" y="2048256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JSP / JSTL et graphiques ApexCharts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606040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2606040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886968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86968" y="3081528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Servlets et filtre de sécurité (NotificationFilter)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639312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639312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730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Métier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6968" y="411480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EJB encapsulant les règles de gestion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672584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4672584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86968" y="47640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Persistance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86968" y="5148072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JPA / Hibernate vers la base Oracle</a:t>
            </a:r>
            <a:endParaRPr lang="en-US" sz="1200" dirty="0"/>
          </a:p>
        </p:txBody>
      </p:sp>
      <p:pic>
        <p:nvPicPr>
          <p:cNvPr id="23" name="Image 0" descr="/home/user/oussema_korbosli/rapport-latex/diagrams/archi_logiq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46996" y="1572768"/>
            <a:ext cx="3599848" cy="402336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MVC : chaque couche est indépendante et faiblement couplée aux autres.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physique (3-tiers)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Poste client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04088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 web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54096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d'applications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0440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 · WAR Jakarta EE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70448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99632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de données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36792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FREEPDB1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0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15984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53144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Restitution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53144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Python ETL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" y="449884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86968" y="48463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client dialogue en HTTP avec WildFly, qui accède à Oracle via la source de données JTA java:/OracleDS. Power BI et la chaîne ETL Python se connectent directement aux vues décisionnelles de la base.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Diagramme de cas d'utilisation global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pic>
        <p:nvPicPr>
          <p:cNvPr id="7" name="Image 0" descr="/home/user/oussema_korbosli/rapport-latex/diagrams/uc_glob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740" y="1298448"/>
            <a:ext cx="7444217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41080" y="15727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DU DIAGRAMME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641080" y="20482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19019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acteurs distincts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641080" y="25054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23591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S'authentifier » commun à tous (include)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641080" y="29626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28163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L'administrateur concentre la gestion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641080" y="34198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15400" y="32735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directeur soumet et consulte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641080" y="38770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915400" y="37307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L'utilisateur pointe et consulte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décisionnel en étoile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813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SCHÉMAS COMPARÉS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10512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8836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Étoile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2311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lisible, requêtes rapides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79776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8529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Flocon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20040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normalisées, plus de jointures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49040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8221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Constellation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1696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tables de faits, surdimensionné ici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" y="47548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grain unique — l'agence — et peu de dimensions : le modèle en étoile offre la lisibilité attendue par un outil libre-service comme Power BI.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1810512"/>
            <a:ext cx="5120640" cy="384048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199339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fait_agence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12280" y="237744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Effectif · gestionnaires · clients · comptes ouverts · production de crédits · collecte d'épargne · taux de présence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12280" y="32004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DE DIMENSIONS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812280" y="36210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86600" y="347472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dim_agence — libellé, district, région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81228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86600" y="393192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— analyse par mois et exercice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812280" y="4535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86600" y="438912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gestionnaire — portefeuille par responsable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812280" y="4992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86600" y="484632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type_client — particulier, société, entreprise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04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 &amp; réalisation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ETL en Python : cinq étapes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49808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Collecte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49808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des 5 tables sources Oracle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798064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5" name="Text 13"/>
          <p:cNvSpPr/>
          <p:nvPr/>
        </p:nvSpPr>
        <p:spPr>
          <a:xfrm>
            <a:off x="2980944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980944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Nettoyage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980944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incomplètes écartées, typage des colonnes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82896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0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0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5212080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212080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212080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Agrégation par agence des 7 indicateurs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14032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60336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60336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7" name="Text 25"/>
          <p:cNvSpPr/>
          <p:nvPr/>
        </p:nvSpPr>
        <p:spPr>
          <a:xfrm>
            <a:off x="7443216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443216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443216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des sources sur la clé SK_AGENCE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345168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491472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91472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9674352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9674352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 qualité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674352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manquantes, arrondis et journal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794760"/>
            <a:ext cx="5394960" cy="1965960"/>
          </a:xfrm>
          <a:prstGeom prst="roundRect">
            <a:avLst>
              <a:gd name="adj" fmla="val 279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6968" y="397764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 Oracle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886968" y="435254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· B_UTILISATEURS · B_CLIENTS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B_OBJECTIF · POINTAGE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86968" y="5138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rejouable, exécutée sur les données réelles du réseau.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53796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3796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2" name="Text 40"/>
          <p:cNvSpPr/>
          <p:nvPr/>
        </p:nvSpPr>
        <p:spPr>
          <a:xfrm>
            <a:off x="662940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62940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consolidées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18972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8972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6" name="Text 44"/>
          <p:cNvSpPr/>
          <p:nvPr/>
        </p:nvSpPr>
        <p:spPr>
          <a:xfrm>
            <a:off x="928116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600" dirty="0"/>
          </a:p>
        </p:txBody>
      </p:sp>
      <p:sp>
        <p:nvSpPr>
          <p:cNvPr id="47" name="Text 45"/>
          <p:cNvSpPr/>
          <p:nvPr/>
        </p:nvSpPr>
        <p:spPr>
          <a:xfrm>
            <a:off x="928116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par agence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Datamart obtenu sur les données réelles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pic>
        <p:nvPicPr>
          <p:cNvPr id="7" name="Image 0" descr="/home/user/oussema_korbosli/rapport-latex/images/etl/etl_cell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2306" y="1417320"/>
            <a:ext cx="7313484" cy="3200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828032"/>
            <a:ext cx="1106424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6968" y="49743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Lecture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86968" y="530352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datamart décrit chaque agence par ses sept indicateurs. BIZERTE et MGHIRA dominent le portefeuille clients, tandis que CENTRALE concentre la production de crédits — une hétérogénéité que la segmentation exploitera.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 du modèle dans Power BI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pic>
        <p:nvPicPr>
          <p:cNvPr id="7" name="Image 0" descr="/home/user/oussema_korbosli/rapport-latex/images/etl/pbi_mode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2" y="1371600"/>
            <a:ext cx="4951473" cy="4754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20840" y="15361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 DU MODÈLE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720840" y="1874520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49440" y="191109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B_UTILISATEURS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949440" y="22037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835640" y="1874520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720840" y="2624328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949440" y="26609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B_CLIENTS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94944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835640" y="2624328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20840" y="3374136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949440" y="34107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B_OBJECTIF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949440" y="3703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835640" y="3374136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20840" y="4123944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49440" y="41605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B_UTILISATEURS → POINTAGE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949440" y="44531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SK_UTILISATEUR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835640" y="412394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20840" y="4956048"/>
            <a:ext cx="4937760" cy="1170432"/>
          </a:xfrm>
          <a:prstGeom prst="roundRect">
            <a:avLst>
              <a:gd name="adj" fmla="val 4688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949440" y="50840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Filtrage croisé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949440" y="5394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relations un-à-plusieurs propagent le filtre de la dimension vers les faits : un clic recalcule tous les visuels.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Résumé du réseau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res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1987"/>
            <a:ext cx="7086600" cy="385686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présence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consolidée des indicateurs clés du réseau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pointage sur trois est un retard ou une absence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de production en février, puis tassement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Clients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l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particuliers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Portefeuille très majoritairement « particuliers »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concentration sur le Grand Tunis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de développement sur la clientèle professionnelle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Performance commerciale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ommer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83,6 %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 particuliers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équilibrée : immobilier, conso, investissement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comptes chèques dominent les ouvertures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CENTRALE : agence phare, bonnes pratiques à diffuser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Présence &amp; assiduité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pres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25 %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retards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pointage auto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 adoption du pointage automatique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d'assiduité en avril–mai, repli estival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à surveiller identifiées pour action RH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Réalisation et environnement technique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s/ja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00784"/>
            <a:ext cx="566928" cy="566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12648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048256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1" name="Image 1" descr="/home/user/oussema_korbosli/rapport-latex/images/logos/jakarta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152" y="1706118"/>
            <a:ext cx="731520" cy="5562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093976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10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529584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4" name="Image 2" descr="/home/user/oussema_korbosli/rapport-latex/images/logos/hibern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2776" y="1700784"/>
            <a:ext cx="566928" cy="56692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575304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010912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7" name="Image 3" descr="/home/user/oussema_korbosli/rapport-latex/images/logos/ora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4104" y="1700784"/>
            <a:ext cx="566928" cy="5669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056632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566928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0" name="Image 4" descr="/home/user/oussema_korbosli/rapport-latex/images/logos/wildf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118104"/>
            <a:ext cx="566928" cy="56692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2648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2048256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3" name="Image 5" descr="/home/user/oussema_korbosli/rapport-latex/images/logos/mav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9152" y="3309366"/>
            <a:ext cx="731520" cy="184404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2093976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</a:t>
            </a:r>
            <a:endParaRPr lang="en-US" sz="1050" dirty="0"/>
          </a:p>
        </p:txBody>
      </p:sp>
      <p:sp>
        <p:nvSpPr>
          <p:cNvPr id="25" name="Shape 17"/>
          <p:cNvSpPr/>
          <p:nvPr/>
        </p:nvSpPr>
        <p:spPr>
          <a:xfrm>
            <a:off x="3529584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6" name="Image 6" descr="/home/user/oussema_korbosli/rapport-latex/images/logos/powerb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22776" y="3118104"/>
            <a:ext cx="566928" cy="566928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3575304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050" dirty="0"/>
          </a:p>
        </p:txBody>
      </p:sp>
      <p:sp>
        <p:nvSpPr>
          <p:cNvPr id="28" name="Shape 19"/>
          <p:cNvSpPr/>
          <p:nvPr/>
        </p:nvSpPr>
        <p:spPr>
          <a:xfrm>
            <a:off x="5010912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9" name="Image 7" descr="/home/user/oussema_korbosli/rapport-latex/images/logos/pyth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4104" y="3118104"/>
            <a:ext cx="566928" cy="56692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5056632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50" dirty="0"/>
          </a:p>
        </p:txBody>
      </p:sp>
      <p:sp>
        <p:nvSpPr>
          <p:cNvPr id="31" name="Text 21"/>
          <p:cNvSpPr/>
          <p:nvPr/>
        </p:nvSpPr>
        <p:spPr>
          <a:xfrm>
            <a:off x="566928" y="448056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packagée par Maven et déployée sur WildFly ; chaîne ETL et segmentation en Python (pandas, scikit-learn).</a:t>
            </a:r>
            <a:endParaRPr lang="en-US" sz="1250" dirty="0"/>
          </a:p>
        </p:txBody>
      </p:sp>
      <p:sp>
        <p:nvSpPr>
          <p:cNvPr id="32" name="Shape 22"/>
          <p:cNvSpPr/>
          <p:nvPr/>
        </p:nvSpPr>
        <p:spPr>
          <a:xfrm>
            <a:off x="566928" y="5230368"/>
            <a:ext cx="566928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3" name="Text 23"/>
          <p:cNvSpPr/>
          <p:nvPr/>
        </p:nvSpPr>
        <p:spPr>
          <a:xfrm>
            <a:off x="566928" y="5230368"/>
            <a:ext cx="5669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scénarios de tests fonctionnels — tous conformes</a:t>
            </a:r>
            <a:endParaRPr lang="en-US" sz="1250" dirty="0"/>
          </a:p>
        </p:txBody>
      </p:sp>
      <p:pic>
        <p:nvPicPr>
          <p:cNvPr id="34" name="Image 8" descr="/home/user/oussema_korbosli/rapport-latex/images/screens/pointag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1797057"/>
            <a:ext cx="5212080" cy="2623805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6446520" y="47548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 pointage : cartes de synthèse, pointage du jour et saisie manuelle.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05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 &amp; démonstration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Zoom technique — segmentation par K-Means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 regrouper les agences en profils homogènes à partir de six indicateurs réels, sans étiquette préalable (apprentissage non supervisé).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11680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945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945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99616" y="208483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Prétraitement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99616" y="245059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sur les montants puis centrage-réduction (6 variables)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035808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321868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3218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99616" y="3108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Choix de 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99616" y="347472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Coude et silhouette → k = 3, exploitable pour le pilotage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59936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" y="424281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242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499616" y="41330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Comparaison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99616" y="44988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hiérarchique, GMM et DBSCAN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08406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" y="5266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5266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499616" y="515721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retenu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99616" y="552297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: silhouette 0,604, classe toutes les agences</a:t>
            </a:r>
            <a:endParaRPr lang="en-US" sz="1150" dirty="0"/>
          </a:p>
        </p:txBody>
      </p:sp>
      <p:pic>
        <p:nvPicPr>
          <p:cNvPr id="28" name="Image 0" descr="/home/user/oussema_korbosli/rapport-latex/images/clustering_p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216506"/>
            <a:ext cx="5212080" cy="361370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Résultats de la segmentation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841248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Agences d'exploitation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41248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880 clients · 12 employés · 7,80 MDT de crédits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41248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différenciés, diffusion des bonnes pratiques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4"/>
          <p:cNvSpPr/>
          <p:nvPr/>
        </p:nvSpPr>
        <p:spPr>
          <a:xfrm>
            <a:off x="4617720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617720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de production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17720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 aucun client · 14,61 MDT de crédits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17720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0" name="Text 18"/>
          <p:cNvSpPr/>
          <p:nvPr/>
        </p:nvSpPr>
        <p:spPr>
          <a:xfrm>
            <a:off x="4617720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 ces financements réalisés hors guichet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Text 21"/>
          <p:cNvSpPr/>
          <p:nvPr/>
        </p:nvSpPr>
        <p:spPr>
          <a:xfrm>
            <a:off x="8394192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394192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sans activité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8394192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clientèle, ni comptes, ni production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394192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7" name="Text 25"/>
          <p:cNvSpPr/>
          <p:nvPr/>
        </p:nvSpPr>
        <p:spPr>
          <a:xfrm>
            <a:off x="8394192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Statuer : ouverture, rattachement ou intégration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54132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Apport décisionnel : différencier les objectifs selon le régime d'activité réel et fiabiliser le référentiel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25146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2926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Démonstration en direct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66928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web · tableau de bord embarqué · rapport Power BI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4343400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06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892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892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91056" y="174650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591056" y="2148840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du réseau : agences, employés, clients, objectifs, rôles, pointage et circuits de validation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2898648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319125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1912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91056" y="30449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591056" y="3447288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Python, datamart en étoile et quatre tableaux de bord Power BI sur les données réelles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197096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48970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44897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91056" y="434340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591056" y="4745736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du réseau en trois profils d'agences directement exploitables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550468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550468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système complet, de la donnée opérationnelle jusqu'à la décision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Perspectives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 renforcée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8696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Hachage des mots de passe et durcissement des accès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048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9048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651052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Industrialisation de l'ETL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1052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Ordonnancement automatique et historisation incrémentale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Analyses prédictives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8696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 des objectifs commerciaux par agence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048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9048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651052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REST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51052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Interopérabilité avec les autres systèmes de la banque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88696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mobile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8696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des indicateurs en mobilité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9048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9048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651052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Alertes automatiques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51052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des agences sous les seuils critiques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5176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 POUR VOTRE ATTENTION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566928" y="3657600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931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700" dirty="0"/>
          </a:p>
        </p:txBody>
      </p:sp>
      <p:pic>
        <p:nvPicPr>
          <p:cNvPr id="13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029200"/>
            <a:ext cx="1417320" cy="859536"/>
          </a:xfrm>
          <a:prstGeom prst="rect">
            <a:avLst/>
          </a:prstGeom>
        </p:spPr>
      </p:pic>
      <p:pic>
        <p:nvPicPr>
          <p:cNvPr id="14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5029200"/>
            <a:ext cx="777240" cy="813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PFE — Gestion des agences BTK</dc:title>
  <dc:subject>PptxGenJS Presentation</dc:subject>
  <dc:creator>Oussema Korbosli</dc:creator>
  <cp:lastModifiedBy>Oussema Korbosli</cp:lastModifiedBy>
  <cp:revision>1</cp:revision>
  <dcterms:created xsi:type="dcterms:W3CDTF">2026-08-28T19:39:27Z</dcterms:created>
  <dcterms:modified xsi:type="dcterms:W3CDTF">2026-08-28T19:39:27Z</dcterms:modified>
</cp:coreProperties>
</file>