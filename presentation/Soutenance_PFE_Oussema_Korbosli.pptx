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image" Target="../media/image-2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646920" y="0"/>
            <a:ext cx="13716" cy="6858000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5" name="Shape 3"/>
          <p:cNvSpPr/>
          <p:nvPr/>
        </p:nvSpPr>
        <p:spPr>
          <a:xfrm>
            <a:off x="10030968" y="0"/>
            <a:ext cx="13716" cy="6858000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6" name="Shape 4"/>
          <p:cNvSpPr/>
          <p:nvPr/>
        </p:nvSpPr>
        <p:spPr>
          <a:xfrm>
            <a:off x="10415016" y="0"/>
            <a:ext cx="13716" cy="6858000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7" name="Shape 5"/>
          <p:cNvSpPr/>
          <p:nvPr/>
        </p:nvSpPr>
        <p:spPr>
          <a:xfrm>
            <a:off x="10799064" y="0"/>
            <a:ext cx="13716" cy="6858000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0"/>
            <a:ext cx="13716" cy="6858000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9" name="Shape 7"/>
          <p:cNvSpPr/>
          <p:nvPr/>
        </p:nvSpPr>
        <p:spPr>
          <a:xfrm>
            <a:off x="11567160" y="0"/>
            <a:ext cx="13716" cy="6858000"/>
          </a:xfrm>
          <a:prstGeom prst="rect">
            <a:avLst/>
          </a:prstGeom>
          <a:solidFill>
            <a:srgbClr val="3C6FC3"/>
          </a:solidFill>
          <a:ln/>
        </p:spPr>
      </p:sp>
      <p:pic>
        <p:nvPicPr>
          <p:cNvPr id="10" name="Image 0" descr="/home/user/oussema_korbosli/rapport-latex/images/logo_es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84048"/>
            <a:ext cx="1572768" cy="950976"/>
          </a:xfrm>
          <a:prstGeom prst="rect">
            <a:avLst/>
          </a:prstGeom>
        </p:spPr>
      </p:pic>
      <p:pic>
        <p:nvPicPr>
          <p:cNvPr id="11" name="Image 1" descr="/home/user/oussema_korbosli/rapport-latex/images/logo_bt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84048"/>
            <a:ext cx="658368" cy="685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" y="178308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D'ÉTUDES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66928" y="219456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Système intelligent de gestion des rôles et</a:t>
            </a:r>
            <a:endParaRPr lang="en-US" sz="28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pointage avec tableau de bord décisionnel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566928" y="365760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9FB6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Intelligence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566928" y="4169664"/>
            <a:ext cx="1234440" cy="2743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6" name="Text 12"/>
          <p:cNvSpPr/>
          <p:nvPr/>
        </p:nvSpPr>
        <p:spPr>
          <a:xfrm>
            <a:off x="566928" y="444398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Oussema Korbosli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66928" y="4956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5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Maître de stage : </a:t>
            </a:r>
            <a:pPr indent="0" marL="0">
              <a:buNone/>
            </a:pPr>
            <a:r>
              <a:rPr lang="en-US" sz="1250" dirty="0">
                <a:solidFill>
                  <a:srgbClr val="D5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ELMOULA Melek Aziz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66928" y="5257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5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académique : </a:t>
            </a:r>
            <a:pPr indent="0" marL="0">
              <a:buNone/>
            </a:pPr>
            <a:r>
              <a:rPr lang="en-US" sz="1250" dirty="0">
                <a:solidFill>
                  <a:srgbClr val="D5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ABIDI Heni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66928" y="5815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BTK – Banque Tuniso-Koweïtienne   ·   Année universitaire 2025/2026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10128" cy="6858000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977640" y="105156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E7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977640" y="172821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général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977640" y="278892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E7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77640" y="346557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Spécifications des besoins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977640" y="452628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E7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977640" y="520293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architecture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92440" y="105156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E7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092440" y="172821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Volet décisionnel &amp; réalisation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092440" y="278892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E7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092440" y="346557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 &amp; démonstration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092440" y="452628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E7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092440" y="520293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9808" y="502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4E7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95528" y="23317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49808" y="2688336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général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0" y="431596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général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463040"/>
            <a:ext cx="11064240" cy="1481328"/>
          </a:xfrm>
          <a:prstGeom prst="roundRect">
            <a:avLst>
              <a:gd name="adj" fmla="val 3704"/>
            </a:avLst>
          </a:prstGeom>
          <a:solidFill>
            <a:srgbClr val="0A2558"/>
          </a:solidFill>
          <a:ln w="12700">
            <a:solidFill>
              <a:srgbClr val="0A25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463040"/>
            <a:ext cx="101498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Une donnée dispersée ne décide rien : c'est en la consolidant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qu'elle devient un instrument de pilotage. »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928" y="3346704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20040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réseau de 45 agences réparties sur tout le territoire tunisien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3858768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712464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 d'activité éclatées entre plusieurs fichiers et applications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370832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22452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besoin de piloter la performance commerciale et l'assiduité des équipes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4882896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73659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direction qui doit décider vite, sur des indicateurs fiables et à jour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53492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53492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du projet : centraliser la gestion du réseau et transformer les données opérationnelles en indicateurs d'aide à la décision.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Présentation de l'organisme d'accueil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55321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pic>
        <p:nvPicPr>
          <p:cNvPr id="8" name="Image 0" descr="/home/user/oussema_korbosli/rapport-latex/images/logo_bt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643" y="1737360"/>
            <a:ext cx="963930" cy="1005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28529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BTK – Banque Tuniso-Koweïtienne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32688" y="3456432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07008" y="3310128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universelle de droit tunisien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32688" y="3913632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07008" y="3767328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Créée le 25 février 1981 (coopération Tunisie – Koweït)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32688" y="4370832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07008" y="4224528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social de 200 millions de dinars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32688" y="4828032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07008" y="4681728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Siège social à Tunis, réseau national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46520" y="15361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EFFECTUÉ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46520" y="1847088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46520" y="1847088"/>
            <a:ext cx="73152" cy="914400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21" name="Text 18"/>
          <p:cNvSpPr/>
          <p:nvPr/>
        </p:nvSpPr>
        <p:spPr>
          <a:xfrm>
            <a:off x="6720840" y="193852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Département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720840" y="22677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6446520" y="2907792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46520" y="2907792"/>
            <a:ext cx="73152" cy="914400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25" name="Text 22"/>
          <p:cNvSpPr/>
          <p:nvPr/>
        </p:nvSpPr>
        <p:spPr>
          <a:xfrm>
            <a:off x="6720840" y="29992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720840" y="33284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février → 16 juin 2026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6446520" y="3968496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46520" y="3968496"/>
            <a:ext cx="73152" cy="914400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29" name="Text 26"/>
          <p:cNvSpPr/>
          <p:nvPr/>
        </p:nvSpPr>
        <p:spPr>
          <a:xfrm>
            <a:off x="6720840" y="405993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720840" y="4389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mois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6446520" y="5029200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46520" y="5029200"/>
            <a:ext cx="73152" cy="914400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33" name="Text 30"/>
          <p:cNvSpPr/>
          <p:nvPr/>
        </p:nvSpPr>
        <p:spPr>
          <a:xfrm>
            <a:off x="6720840" y="51206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Encadrement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720840" y="54498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M. ELMOULA Melek Aziz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réseau BTK en chiffres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00200"/>
            <a:ext cx="2615184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00200"/>
            <a:ext cx="2615184" cy="64008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856232"/>
            <a:ext cx="2432304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58368" y="2592324"/>
            <a:ext cx="243230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1600200"/>
            <a:ext cx="2615184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600200"/>
            <a:ext cx="2615184" cy="64008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856232"/>
            <a:ext cx="2432304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74720" y="2592324"/>
            <a:ext cx="243230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employés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99632" y="1600200"/>
            <a:ext cx="2615184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1600200"/>
            <a:ext cx="2615184" cy="64008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7" name="Text 15"/>
          <p:cNvSpPr/>
          <p:nvPr/>
        </p:nvSpPr>
        <p:spPr>
          <a:xfrm>
            <a:off x="6291072" y="1856232"/>
            <a:ext cx="2432304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29 942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91072" y="2592324"/>
            <a:ext cx="243230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15984" y="1600200"/>
            <a:ext cx="2615184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15984" y="1600200"/>
            <a:ext cx="2615184" cy="64008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21" name="Text 19"/>
          <p:cNvSpPr/>
          <p:nvPr/>
        </p:nvSpPr>
        <p:spPr>
          <a:xfrm>
            <a:off x="9107424" y="1856232"/>
            <a:ext cx="2432304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107424" y="2592324"/>
            <a:ext cx="243230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gouvernorats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3520440"/>
            <a:ext cx="2615184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3520440"/>
            <a:ext cx="2615184" cy="64008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776472"/>
            <a:ext cx="2432304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105 K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58368" y="4512564"/>
            <a:ext cx="243230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ouverts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383280" y="3520440"/>
            <a:ext cx="2615184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0" y="3520440"/>
            <a:ext cx="2615184" cy="64008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3776472"/>
            <a:ext cx="2432304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1,40 Md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474720" y="4512564"/>
            <a:ext cx="243230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 crédits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99632" y="3520440"/>
            <a:ext cx="2615184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99632" y="3520440"/>
            <a:ext cx="2615184" cy="64008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33" name="Text 31"/>
          <p:cNvSpPr/>
          <p:nvPr/>
        </p:nvSpPr>
        <p:spPr>
          <a:xfrm>
            <a:off x="6291072" y="3776472"/>
            <a:ext cx="2432304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253 M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291072" y="4512564"/>
            <a:ext cx="243230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d'épargne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015984" y="3520440"/>
            <a:ext cx="2615184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15984" y="3520440"/>
            <a:ext cx="2615184" cy="64008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37" name="Text 35"/>
          <p:cNvSpPr/>
          <p:nvPr/>
        </p:nvSpPr>
        <p:spPr>
          <a:xfrm>
            <a:off x="9107424" y="3776472"/>
            <a:ext cx="2432304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87,9 %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9107424" y="4512564"/>
            <a:ext cx="243230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présence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66928" y="5413248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0A2558"/>
          </a:solidFill>
          <a:ln w="12700">
            <a:solidFill>
              <a:srgbClr val="0A255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54132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issus du datamart réel produit par la chaîne ETL du projet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Problématiques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810512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A255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8105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572768" y="1572768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 d'activité dispersées, saisies et consolidées manuellement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66928" y="274320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980944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A255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80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572768" y="274320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suivi de la présence des employés sans traçabilité fiable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6928" y="3913632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15137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A255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513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572768" y="3913632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vision consolidée de la performance du réseau d'agences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66928" y="5084064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321808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A255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3218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572768" y="5084064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indicateurs de pilotage indisponibles au moment de décider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Étude de l'existant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5361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ENVISAGÉES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1874520"/>
            <a:ext cx="50292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98424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Tableurs Excel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41248" y="235000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manuelle des données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3008376"/>
            <a:ext cx="50292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11810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Progiciel du marché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41248" y="348386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intégrée sur étagère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142232"/>
            <a:ext cx="5029200" cy="969264"/>
          </a:xfrm>
          <a:prstGeom prst="roundRect">
            <a:avLst>
              <a:gd name="adj" fmla="val 5660"/>
            </a:avLst>
          </a:prstGeom>
          <a:solidFill>
            <a:srgbClr val="0A2558"/>
          </a:solidFill>
          <a:ln w="12700">
            <a:solidFill>
              <a:srgbClr val="0A25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4251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Développement sur mesure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1248" y="46177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adaptée au métier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0644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537960" y="15361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CONSTATÉES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37960" y="1874520"/>
            <a:ext cx="5120640" cy="3145536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2249424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103120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d'erreurs et de doublons de saisie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766560" y="2706624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2560320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gestion des rôles ni des droits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766560" y="3163824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3017520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traçabilité des opérations sensibles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766560" y="3621024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3474720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élevé des progiciels du marché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766560" y="4078224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3931920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des indicateurs impossible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66928" y="5285232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0A2558"/>
          </a:solidFill>
          <a:ln w="12700">
            <a:solidFill>
              <a:srgbClr val="0A25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5285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retenu : une solution développée sur mesure, alignée sur les processus réels de la BTK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proposée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54480"/>
            <a:ext cx="3502152" cy="4114800"/>
          </a:xfrm>
          <a:prstGeom prst="roundRect">
            <a:avLst>
              <a:gd name="adj" fmla="val 156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554480"/>
            <a:ext cx="3502152" cy="7315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9" name="Shape 7"/>
          <p:cNvSpPr/>
          <p:nvPr/>
        </p:nvSpPr>
        <p:spPr>
          <a:xfrm>
            <a:off x="841248" y="184708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A2558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41248" y="254203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web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41248" y="3255264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centralisée des agences, employés, clients et objectifs · rôles et droits · pointage · circuits de validation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512064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EE · Oracle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1554480"/>
            <a:ext cx="3502152" cy="4114800"/>
          </a:xfrm>
          <a:prstGeom prst="roundRect">
            <a:avLst>
              <a:gd name="adj" fmla="val 156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554480"/>
            <a:ext cx="3502152" cy="7315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6" name="Shape 14"/>
          <p:cNvSpPr/>
          <p:nvPr/>
        </p:nvSpPr>
        <p:spPr>
          <a:xfrm>
            <a:off x="4617720" y="184708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A2558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617720" y="254203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Chaîne décisionnelle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617720" y="3255264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ETL consolidant les données dans un datamart en étoile, restitué par des tableaux de bord Power BI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617720" y="512064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Power BI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19872" y="1554480"/>
            <a:ext cx="3502152" cy="4114800"/>
          </a:xfrm>
          <a:prstGeom prst="roundRect">
            <a:avLst>
              <a:gd name="adj" fmla="val 156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19872" y="1554480"/>
            <a:ext cx="3502152" cy="7315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23" name="Shape 21"/>
          <p:cNvSpPr/>
          <p:nvPr/>
        </p:nvSpPr>
        <p:spPr>
          <a:xfrm>
            <a:off x="8394192" y="184708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A2558"/>
          </a:solidFill>
          <a:ln/>
        </p:spPr>
      </p:sp>
      <p:sp>
        <p:nvSpPr>
          <p:cNvPr id="24" name="Text 22"/>
          <p:cNvSpPr/>
          <p:nvPr/>
        </p:nvSpPr>
        <p:spPr>
          <a:xfrm>
            <a:off x="8394192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394192" y="254203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artificielle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8394192" y="3255264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automatique des agences en profils homogènes pour un pilotage différencié du réseau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94192" y="512064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solution, de la saisie opérationnelle jusqu'à l'aide à la décision.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Méthodologie adoptée : CRISP-DM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2984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centré sur les données : Scrum structure la production logicielle, mais ne couvre pas les étapes d'analyse et de valorisation des données.</a:t>
            </a:r>
            <a:endParaRPr lang="en-US" sz="1300" dirty="0"/>
          </a:p>
        </p:txBody>
      </p:sp>
      <p:pic>
        <p:nvPicPr>
          <p:cNvPr id="8" name="Image 0" descr="/home/user/oussema_korbosli/rapport-latex/images/crispd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073" y="1783080"/>
            <a:ext cx="5301310" cy="4343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20840" y="1828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CRISP-DM ?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720840" y="2286000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95160" y="2139696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de référence des projets décisionnels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720840" y="2743200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95160" y="2596896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six phases épousent le déroulement réel du projet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720840" y="3200400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95160" y="3054096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Pratiques agiles conservées : itérations et validations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720840" y="3657600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95160" y="3511296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ne couvre pas l'analyse et la valorisation des données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720840" y="4224528"/>
            <a:ext cx="49377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20840" y="4224528"/>
            <a:ext cx="4937760" cy="7315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20" name="Text 17"/>
          <p:cNvSpPr/>
          <p:nvPr/>
        </p:nvSpPr>
        <p:spPr>
          <a:xfrm>
            <a:off x="6967728" y="440740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Correspondance avec le rapport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967728" y="4791456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1–2  →  Chapitres 1 et 2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→  Chapitre 3 et chaîne ETL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4–5  →  Chapitre 4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 →  Chapitre 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9808" y="502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4E7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95528" y="23317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02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49808" y="2688336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Spécifications des besoins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0" y="431596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Identification des acteurs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54480"/>
            <a:ext cx="3502152" cy="3977640"/>
          </a:xfrm>
          <a:prstGeom prst="roundRect">
            <a:avLst>
              <a:gd name="adj" fmla="val 156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554480"/>
            <a:ext cx="3502152" cy="7315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9" name="Shape 7"/>
          <p:cNvSpPr/>
          <p:nvPr/>
        </p:nvSpPr>
        <p:spPr>
          <a:xfrm>
            <a:off x="1901952" y="1874520"/>
            <a:ext cx="822960" cy="822960"/>
          </a:xfrm>
          <a:prstGeom prst="ellipse">
            <a:avLst/>
          </a:prstGeom>
          <a:solidFill>
            <a:srgbClr val="0A2558"/>
          </a:solidFill>
          <a:ln w="12700">
            <a:solidFill>
              <a:srgbClr val="0A25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01952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68096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Administrateur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68096" y="32186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C6F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36118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Couvre les 13 cas d'utilisation : rôles et droits · agences, employés, clients · demandes · pointage · journal d'audit · volet décisionnel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1554480"/>
            <a:ext cx="3502152" cy="3977640"/>
          </a:xfrm>
          <a:prstGeom prst="roundRect">
            <a:avLst>
              <a:gd name="adj" fmla="val 156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554480"/>
            <a:ext cx="3502152" cy="7315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6" name="Shape 14"/>
          <p:cNvSpPr/>
          <p:nvPr/>
        </p:nvSpPr>
        <p:spPr>
          <a:xfrm>
            <a:off x="5678424" y="1874520"/>
            <a:ext cx="822960" cy="822960"/>
          </a:xfrm>
          <a:prstGeom prst="ellipse">
            <a:avLst/>
          </a:prstGeom>
          <a:solidFill>
            <a:srgbClr val="0A2558"/>
          </a:solidFill>
          <a:ln w="12700">
            <a:solidFill>
              <a:srgbClr val="0A25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78424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44568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Directeur commercial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44568" y="32186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C6F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DIRECTEUR_COMMERCIAL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17720" y="36118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 les employés, les objectifs et le tableau de bord · soumet les demandes de création · valide les modifications des employés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19872" y="1554480"/>
            <a:ext cx="3502152" cy="3977640"/>
          </a:xfrm>
          <a:prstGeom prst="roundRect">
            <a:avLst>
              <a:gd name="adj" fmla="val 156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19872" y="1554480"/>
            <a:ext cx="3502152" cy="7315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23" name="Shape 21"/>
          <p:cNvSpPr/>
          <p:nvPr/>
        </p:nvSpPr>
        <p:spPr>
          <a:xfrm>
            <a:off x="9454896" y="1874520"/>
            <a:ext cx="822960" cy="822960"/>
          </a:xfrm>
          <a:prstGeom prst="ellipse">
            <a:avLst/>
          </a:prstGeom>
          <a:solidFill>
            <a:srgbClr val="0A2558"/>
          </a:solidFill>
          <a:ln w="12700">
            <a:solidFill>
              <a:srgbClr val="0A25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54896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32104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Utilisateur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321040" y="32186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C6F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94192" y="36118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 son arrivée et son départ · soumet les demandes de modification de ses propres informations · reçoit ses notifications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rôles sont gérés par le module de sécurité (table SECURITY_USERS) et conditionnent l'accès à chaque fonctionnalité.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Besoins fonctionnels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5257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90195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A2558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27048" y="17922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Authentification &amp; rôles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527048" y="217627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sécurisée, gestion des droits d'accès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0488" y="1572768"/>
            <a:ext cx="5257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8232" y="190195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A2558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150608" y="17922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 du référentiel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150608" y="217627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des agences, des employés et des clients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3054096"/>
            <a:ext cx="5257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33832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A2558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27048" y="3273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Objectifs commerciaux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527048" y="365760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la production par agence et par période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0488" y="3054096"/>
            <a:ext cx="5257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28232" y="33832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A2558"/>
          </a:solidFill>
          <a:ln/>
        </p:spPr>
      </p:sp>
      <p:sp>
        <p:nvSpPr>
          <p:cNvPr id="24" name="Text 22"/>
          <p:cNvSpPr/>
          <p:nvPr/>
        </p:nvSpPr>
        <p:spPr>
          <a:xfrm>
            <a:off x="6428232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150608" y="3273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Pointage des employés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150608" y="365760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Arrivée / départ, statut présent · retard · absent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4535424"/>
            <a:ext cx="5257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486460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A2558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" y="4864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527048" y="4754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Circuits de validation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527048" y="513892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validation : approbation du directeur puis exécution par l'admin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90488" y="4535424"/>
            <a:ext cx="5257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28232" y="486460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A2558"/>
          </a:solidFill>
          <a:ln/>
        </p:spPr>
      </p:sp>
      <p:sp>
        <p:nvSpPr>
          <p:cNvPr id="34" name="Text 32"/>
          <p:cNvSpPr/>
          <p:nvPr/>
        </p:nvSpPr>
        <p:spPr>
          <a:xfrm>
            <a:off x="6428232" y="4864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150608" y="4754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Volet décisionnel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7150608" y="513892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ETL, tableaux de bord et segmentation des agences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Besoins non fonctionnels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350215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91640"/>
            <a:ext cx="3502152" cy="7315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98424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Sécurité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478024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Authentification, rôles et workflows de validation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50215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691640"/>
            <a:ext cx="3502152" cy="7315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198424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Fiabilité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2478024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Intégrité garantie par le SGBD et les transactions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19872" y="1691640"/>
            <a:ext cx="350215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9872" y="1691640"/>
            <a:ext cx="3502152" cy="7315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7" name="Text 15"/>
          <p:cNvSpPr/>
          <p:nvPr/>
        </p:nvSpPr>
        <p:spPr>
          <a:xfrm>
            <a:off x="8394192" y="198424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94192" y="2478024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réponse adapté aux volumes manipulés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840480"/>
            <a:ext cx="350215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840480"/>
            <a:ext cx="3502152" cy="7315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13308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Ergonomie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" y="4626864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claire, navigation par menu latéral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43400" y="3840480"/>
            <a:ext cx="350215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43400" y="3840480"/>
            <a:ext cx="3502152" cy="7315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413308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Maintenabilité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17720" y="4626864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en couches, code faiblement couplé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119872" y="3840480"/>
            <a:ext cx="350215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19872" y="3840480"/>
            <a:ext cx="3502152" cy="7315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29" name="Text 27"/>
          <p:cNvSpPr/>
          <p:nvPr/>
        </p:nvSpPr>
        <p:spPr>
          <a:xfrm>
            <a:off x="8394192" y="413308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Portabilité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94192" y="4626864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Jakarta EE standard, serveur compatible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9808" y="502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4E7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95528" y="23317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03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49808" y="2688336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Conception &amp; architecture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0" y="431596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logique en couches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6766560" cy="896112"/>
          </a:xfrm>
          <a:prstGeom prst="roundRect">
            <a:avLst>
              <a:gd name="adj" fmla="val 6122"/>
            </a:avLst>
          </a:prstGeom>
          <a:solidFill>
            <a:srgbClr val="0A2558"/>
          </a:solidFill>
          <a:ln w="12700">
            <a:solidFill>
              <a:srgbClr val="0A25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572768"/>
            <a:ext cx="82296" cy="89611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9" name="Text 7"/>
          <p:cNvSpPr/>
          <p:nvPr/>
        </p:nvSpPr>
        <p:spPr>
          <a:xfrm>
            <a:off x="886968" y="1664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Présentation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6968" y="2048256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JSP / JSTL et graphiques ApexCharts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606040"/>
            <a:ext cx="676656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606040"/>
            <a:ext cx="82296" cy="89611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3" name="Text 11"/>
          <p:cNvSpPr/>
          <p:nvPr/>
        </p:nvSpPr>
        <p:spPr>
          <a:xfrm>
            <a:off x="886968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Contrôle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86968" y="3081528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Servlets et filtre de sécurité (NotificationFilter)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639312"/>
            <a:ext cx="676656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3639312"/>
            <a:ext cx="82296" cy="89611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7" name="Text 15"/>
          <p:cNvSpPr/>
          <p:nvPr/>
        </p:nvSpPr>
        <p:spPr>
          <a:xfrm>
            <a:off x="886968" y="3730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Métier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6968" y="4114800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EJB encapsulant les règles de gestion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672584"/>
            <a:ext cx="676656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4672584"/>
            <a:ext cx="82296" cy="89611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21" name="Text 19"/>
          <p:cNvSpPr/>
          <p:nvPr/>
        </p:nvSpPr>
        <p:spPr>
          <a:xfrm>
            <a:off x="886968" y="47640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Persistance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86968" y="5148072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JPA / Hibernate vers la base Oracle</a:t>
            </a:r>
            <a:endParaRPr lang="en-US" sz="1200" dirty="0"/>
          </a:p>
        </p:txBody>
      </p:sp>
      <p:pic>
        <p:nvPicPr>
          <p:cNvPr id="23" name="Image 0" descr="/home/user/oussema_korbosli/rapport-latex/diagrams/archi_logiq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6996" y="1572768"/>
            <a:ext cx="3599848" cy="402336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66928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MVC : chaque couche est indépendante et faiblement couplée aux autres.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physique (3-tiers)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92024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0A2558"/>
          </a:solidFill>
          <a:ln w="12700">
            <a:solidFill>
              <a:srgbClr val="0A25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2331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Poste client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4088" y="30175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 web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54096" y="274320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83280" y="192024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1D4EA0"/>
          </a:solidFill>
          <a:ln w="12700">
            <a:solidFill>
              <a:srgbClr val="1D4E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331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Serveur d'applications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30175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WildFly · WAR Jakarta EE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70448" y="274320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99632" y="192024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2331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Serveur de données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36792" y="30175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FREEPDB1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0" y="274320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015984" y="192024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0A2558"/>
          </a:solidFill>
          <a:ln w="12700">
            <a:solidFill>
              <a:srgbClr val="0A25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53144" y="2331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Restitution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53144" y="30175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Python ETL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34340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44988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6968" y="48463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dialogue en HTTP avec WildFly, qui accède à Oracle via la source de données JTA java:/OracleDS. Power BI et la chaîne ETL Python se connectent directement aux vues décisionnelles de la base.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Diagramme de cas d'utilisation global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pic>
        <p:nvPicPr>
          <p:cNvPr id="7" name="Image 0" descr="/home/user/oussema_korbosli/rapport-latex/diagrams/uc_glob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904" y="1170432"/>
            <a:ext cx="3985873" cy="5212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46520" y="17007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DU DIAGRAMME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46520" y="2231136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20840" y="208483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acteurs, treize cas d'utilisation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46520" y="2688336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20840" y="254203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cas inclut « S'authentifier » (include)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46520" y="3145536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20840" y="299923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 : les 13 cas, sans exception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46520" y="3602736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20840" y="345643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Directeur commercial : 5 cas, dont les employés en consultation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46520" y="4059936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20840" y="391363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 : 3 cas — pointage, demandes, notifications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Diagramme de classes du modèle métier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pic>
        <p:nvPicPr>
          <p:cNvPr id="7" name="Image 0" descr="/home/user/oussema_korbosli/rapport-latex/diagrams/c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29522"/>
            <a:ext cx="7772400" cy="40390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49640" y="1572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DU DIAGRAMME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549640" y="2066544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23960" y="192024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classes groupées en 5 paquetages fonctionnels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549640" y="2523744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23960" y="237744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Utilisateur » au centre du modèle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549640" y="2980944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23960" y="283464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Rattachements par clés étrangères : SK_AGENCE, SK_GESTIONNAIRE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49640" y="3438144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23960" y="329184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Demandes, pointage, journal, notifications : @ManyToOne vers Utilisateur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549640" y="3895344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23960" y="374904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DemandeAgence ↔ Utilisateur : @ManyToMany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549640" y="4352544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823960" y="420624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héritage ni composition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Modèle décisionnel en étoile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SCHÉMAS COMPARÉS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1810512"/>
            <a:ext cx="5394960" cy="841248"/>
          </a:xfrm>
          <a:prstGeom prst="roundRect">
            <a:avLst>
              <a:gd name="adj" fmla="val 6522"/>
            </a:avLst>
          </a:prstGeom>
          <a:solidFill>
            <a:srgbClr val="0A2558"/>
          </a:solidFill>
          <a:ln w="12700">
            <a:solidFill>
              <a:srgbClr val="0A2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88366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Étoile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41248" y="223113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lisible, requêtes rapides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2779776"/>
            <a:ext cx="53949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85292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Flocon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41248" y="32004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normalisées, plus de jointures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749040"/>
            <a:ext cx="53949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8221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Constellation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1248" y="416966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tables de faits, surdimensionné ici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47548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grains homogènes — l'agence, puis le couple agence × gestionnaire — et peu de dimensions : l'étoile offre la lisibilité attendue par un outil libre-service comme Power BI.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37960" y="1810512"/>
            <a:ext cx="512064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19751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DATAMART CHARGÉ PAR L'ETL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2395728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224942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fait_agence / dim_agence — 7 indicateurs au grain de l'agence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12280" y="2852928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270662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fait_objectif / dim_gestionnaire — production au grain agence × gestionnaire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12280" y="371246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SÉMANTIQUE POWER BI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12280" y="4133088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398678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vues V_BI_* : production, effectifs, clients, présence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12280" y="4590288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600" y="444398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conformes AGENCE (SK_AGENCE) et B_UTILISATEURS (SK_UTILISATEUR)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12280" y="5047488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86600" y="490118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et type de client : dimensions dégénérées portées par les vues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9808" y="502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4E7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95528" y="23317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04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49808" y="2688336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Volet décisionnel &amp; réalisation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0" y="431596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Chaîne ETL en Python : cinq étapes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2066544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572768"/>
            <a:ext cx="2066544" cy="7315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739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7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49808" y="21579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49808" y="2523744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des 5 tables sources Oracle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237744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798064" y="1572768"/>
            <a:ext cx="2066544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98064" y="1572768"/>
            <a:ext cx="2066544" cy="7315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5" name="Text 13"/>
          <p:cNvSpPr/>
          <p:nvPr/>
        </p:nvSpPr>
        <p:spPr>
          <a:xfrm>
            <a:off x="2980944" y="17739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7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980944" y="21579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Nettoyage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980944" y="2523744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incomplètes écartées, typage des colonnes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82896" y="237744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0" y="1572768"/>
            <a:ext cx="2066544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1572768"/>
            <a:ext cx="2066544" cy="7315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17739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7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212080" y="21579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212080" y="2523744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Agrégation par agence des 7 indicateurs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14032" y="237744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260336" y="1572768"/>
            <a:ext cx="2066544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60336" y="1572768"/>
            <a:ext cx="2066544" cy="7315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27" name="Text 25"/>
          <p:cNvSpPr/>
          <p:nvPr/>
        </p:nvSpPr>
        <p:spPr>
          <a:xfrm>
            <a:off x="7443216" y="17739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7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443216" y="21579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Intégration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443216" y="2523744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sur SK_AGENCE, puis regroupement sur SK_UTILISATEUR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345168" y="237744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491472" y="1572768"/>
            <a:ext cx="2066544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91472" y="1572768"/>
            <a:ext cx="2066544" cy="7315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33" name="Text 31"/>
          <p:cNvSpPr/>
          <p:nvPr/>
        </p:nvSpPr>
        <p:spPr>
          <a:xfrm>
            <a:off x="9674352" y="17739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7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674352" y="21579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Contrôle qualité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674352" y="2523744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manquantes, arrondis et journal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6928" y="379476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0A2558"/>
          </a:solidFill>
          <a:ln w="12700">
            <a:solidFill>
              <a:srgbClr val="0A255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6968" y="39776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Oracle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886968" y="435254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BD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AGENCE · B_UTILISATEURS · CLIENT_BTK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BD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B_OBJECTIF · POINTAGE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86968" y="51389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rejouable, exécutée sur les données réelles du réseau.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537960" y="3794760"/>
            <a:ext cx="24688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37960" y="3794760"/>
            <a:ext cx="2468880" cy="64008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42" name="Text 40"/>
          <p:cNvSpPr/>
          <p:nvPr/>
        </p:nvSpPr>
        <p:spPr>
          <a:xfrm>
            <a:off x="6629400" y="4109314"/>
            <a:ext cx="2286000" cy="904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6629400" y="5013655"/>
            <a:ext cx="228600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consolidées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189720" y="3794760"/>
            <a:ext cx="24688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89720" y="3794760"/>
            <a:ext cx="2468880" cy="64008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46" name="Text 44"/>
          <p:cNvSpPr/>
          <p:nvPr/>
        </p:nvSpPr>
        <p:spPr>
          <a:xfrm>
            <a:off x="9281160" y="4109314"/>
            <a:ext cx="2286000" cy="904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9281160" y="5013655"/>
            <a:ext cx="228600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par agence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Datamart obtenu sur les données réelles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pic>
        <p:nvPicPr>
          <p:cNvPr id="7" name="Image 0" descr="/home/user/oussema_korbosli/rapport-latex/images/etl/etl_cell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2306" y="1417320"/>
            <a:ext cx="7313484" cy="3200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4828032"/>
            <a:ext cx="110642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" y="49743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86968" y="530352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datamart décrit chaque agence par ses sept indicateurs. BIZERTE et MGHIRA dominent le portefeuille clients, tandis que CENTRALE concentre la production de crédits — une hétérogénéité que la segmentation exploitera.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Intégration du modèle dans Power BI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pic>
        <p:nvPicPr>
          <p:cNvPr id="7" name="Image 0" descr="/home/user/oussema_korbosli/rapport-latex/images/etl/pbi_mode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2" y="1371600"/>
            <a:ext cx="4951473" cy="4754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20840" y="15361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DU MODÈLE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720840" y="1874520"/>
            <a:ext cx="49377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0" y="19110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AGENCE → B_UTILISATEURS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949440" y="22037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SK_AGENCE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835640" y="187452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∗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20840" y="2624328"/>
            <a:ext cx="49377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26609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AGENCE → B_CLIENTS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949440" y="2953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SK_AGENCE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835640" y="2624328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∗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20840" y="3374136"/>
            <a:ext cx="49377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49440" y="34107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AGENCE → B_OBJECTIF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949440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SK_AGENCE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835640" y="3374136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∗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720840" y="4123944"/>
            <a:ext cx="49377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49440" y="41605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B_UTILISATEURS → POINTAGE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949440" y="4453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SK_UTILISATEUR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835640" y="4123944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∗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720840" y="4956048"/>
            <a:ext cx="4937760" cy="1170432"/>
          </a:xfrm>
          <a:prstGeom prst="roundRect">
            <a:avLst>
              <a:gd name="adj" fmla="val 4688"/>
            </a:avLst>
          </a:prstGeom>
          <a:solidFill>
            <a:srgbClr val="0A2558"/>
          </a:solidFill>
          <a:ln w="12700">
            <a:solidFill>
              <a:srgbClr val="0A255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49440" y="50840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Filtrage croisé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949440" y="53949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relations un-à-plusieurs propagent le filtre de la dimension vers les faits : un clic recalcule tous les visuels.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de bord — Résumé du réseau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pic>
        <p:nvPicPr>
          <p:cNvPr id="7" name="Image 0" descr="/home/user/oussema_korbosli/rapport-latex/images/screens/pbi_resu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31987"/>
            <a:ext cx="7086600" cy="385686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82128" y="1371600"/>
            <a:ext cx="3776472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882128" y="1371600"/>
            <a:ext cx="3776472" cy="64008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0" name="Text 7"/>
          <p:cNvSpPr/>
          <p:nvPr/>
        </p:nvSpPr>
        <p:spPr>
          <a:xfrm>
            <a:off x="7973568" y="1570573"/>
            <a:ext cx="3593592" cy="572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K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973568" y="2142622"/>
            <a:ext cx="3593592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882128" y="2761488"/>
            <a:ext cx="3776472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82128" y="2761488"/>
            <a:ext cx="3776472" cy="64008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4" name="Text 11"/>
          <p:cNvSpPr/>
          <p:nvPr/>
        </p:nvSpPr>
        <p:spPr>
          <a:xfrm>
            <a:off x="7973568" y="2960461"/>
            <a:ext cx="3593592" cy="572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1,40 Md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973568" y="3532510"/>
            <a:ext cx="3593592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882128" y="4151376"/>
            <a:ext cx="3776472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82128" y="4151376"/>
            <a:ext cx="3776472" cy="64008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8" name="Text 15"/>
          <p:cNvSpPr/>
          <p:nvPr/>
        </p:nvSpPr>
        <p:spPr>
          <a:xfrm>
            <a:off x="7973568" y="4350349"/>
            <a:ext cx="3593592" cy="572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87,9 %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7973568" y="4922398"/>
            <a:ext cx="3593592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" y="5559552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41248" y="5870448"/>
            <a:ext cx="100584" cy="100584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42416" y="5614416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consolidée des indicateurs clés du réseau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453128" y="5870448"/>
            <a:ext cx="100584" cy="100584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54296" y="5614416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pointage sur trois est un retard ou une absence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065008" y="5870448"/>
            <a:ext cx="100584" cy="100584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66176" y="5614416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de production en février, puis tassement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de bord — Clients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pic>
        <p:nvPicPr>
          <p:cNvPr id="7" name="Image 0" descr="/home/user/oussema_korbosli/rapport-latex/images/screens/pbi_cli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34827"/>
            <a:ext cx="7086600" cy="385118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82128" y="1371600"/>
            <a:ext cx="3776472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882128" y="1371600"/>
            <a:ext cx="3776472" cy="64008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0" name="Text 7"/>
          <p:cNvSpPr/>
          <p:nvPr/>
        </p:nvSpPr>
        <p:spPr>
          <a:xfrm>
            <a:off x="7973568" y="1570573"/>
            <a:ext cx="3593592" cy="572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88 %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973568" y="2142622"/>
            <a:ext cx="3593592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particuliers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882128" y="2761488"/>
            <a:ext cx="3776472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82128" y="2761488"/>
            <a:ext cx="3776472" cy="64008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4" name="Text 11"/>
          <p:cNvSpPr/>
          <p:nvPr/>
        </p:nvSpPr>
        <p:spPr>
          <a:xfrm>
            <a:off x="7973568" y="2960461"/>
            <a:ext cx="3593592" cy="572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973568" y="3532510"/>
            <a:ext cx="3593592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gouvernorats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882128" y="4151376"/>
            <a:ext cx="3776472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82128" y="4151376"/>
            <a:ext cx="3776472" cy="64008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8" name="Text 15"/>
          <p:cNvSpPr/>
          <p:nvPr/>
        </p:nvSpPr>
        <p:spPr>
          <a:xfrm>
            <a:off x="7973568" y="4350349"/>
            <a:ext cx="3593592" cy="572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63 %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7973568" y="4922398"/>
            <a:ext cx="3593592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hommes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" y="5559552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41248" y="5870448"/>
            <a:ext cx="100584" cy="100584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42416" y="5614416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Portefeuille très majoritairement « particuliers »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453128" y="5870448"/>
            <a:ext cx="100584" cy="100584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54296" y="5614416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concentration sur le Grand Tunis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065008" y="5870448"/>
            <a:ext cx="100584" cy="100584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66176" y="5614416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de développement sur la clientèle professionnelle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de bord — Performance commerciale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pic>
        <p:nvPicPr>
          <p:cNvPr id="7" name="Image 0" descr="/home/user/oussema_korbosli/rapport-latex/images/screens/pbi_commer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34827"/>
            <a:ext cx="7086600" cy="385118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82128" y="1371600"/>
            <a:ext cx="3776472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882128" y="1371600"/>
            <a:ext cx="3776472" cy="64008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0" name="Text 7"/>
          <p:cNvSpPr/>
          <p:nvPr/>
        </p:nvSpPr>
        <p:spPr>
          <a:xfrm>
            <a:off x="7973568" y="1570573"/>
            <a:ext cx="3593592" cy="572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1,40 Md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973568" y="2142622"/>
            <a:ext cx="3593592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882128" y="2761488"/>
            <a:ext cx="3776472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82128" y="2761488"/>
            <a:ext cx="3776472" cy="64008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4" name="Text 11"/>
          <p:cNvSpPr/>
          <p:nvPr/>
        </p:nvSpPr>
        <p:spPr>
          <a:xfrm>
            <a:off x="7973568" y="2960461"/>
            <a:ext cx="3593592" cy="572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105 K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973568" y="3532510"/>
            <a:ext cx="3593592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882128" y="4151376"/>
            <a:ext cx="3776472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82128" y="4151376"/>
            <a:ext cx="3776472" cy="64008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8" name="Text 15"/>
          <p:cNvSpPr/>
          <p:nvPr/>
        </p:nvSpPr>
        <p:spPr>
          <a:xfrm>
            <a:off x="7973568" y="4350349"/>
            <a:ext cx="3593592" cy="572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83,6 %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7973568" y="4922398"/>
            <a:ext cx="3593592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particuliers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" y="5559552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41248" y="5870448"/>
            <a:ext cx="100584" cy="100584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42416" y="5614416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équilibrée : immobilier, conso, investissement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453128" y="5870448"/>
            <a:ext cx="100584" cy="100584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54296" y="5614416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comptes chèques dominent les ouvertures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065008" y="5870448"/>
            <a:ext cx="100584" cy="100584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66176" y="5614416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CENTRALE : agence phare, bonnes pratiques à diffuser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de bord — Présence &amp; assiduité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pic>
        <p:nvPicPr>
          <p:cNvPr id="7" name="Image 0" descr="/home/user/oussema_korbosli/rapport-latex/images/screens/pbi_pres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34827"/>
            <a:ext cx="7086600" cy="385118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82128" y="1371600"/>
            <a:ext cx="3776472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882128" y="1371600"/>
            <a:ext cx="3776472" cy="64008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0" name="Text 7"/>
          <p:cNvSpPr/>
          <p:nvPr/>
        </p:nvSpPr>
        <p:spPr>
          <a:xfrm>
            <a:off x="7973568" y="1570573"/>
            <a:ext cx="3593592" cy="572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87,9 %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973568" y="2142622"/>
            <a:ext cx="3593592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présence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882128" y="2761488"/>
            <a:ext cx="3776472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82128" y="2761488"/>
            <a:ext cx="3776472" cy="64008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4" name="Text 11"/>
          <p:cNvSpPr/>
          <p:nvPr/>
        </p:nvSpPr>
        <p:spPr>
          <a:xfrm>
            <a:off x="7973568" y="2960461"/>
            <a:ext cx="3593592" cy="572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973568" y="3532510"/>
            <a:ext cx="3593592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882128" y="4151376"/>
            <a:ext cx="3776472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82128" y="4151376"/>
            <a:ext cx="3776472" cy="64008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8" name="Text 15"/>
          <p:cNvSpPr/>
          <p:nvPr/>
        </p:nvSpPr>
        <p:spPr>
          <a:xfrm>
            <a:off x="7973568" y="4350349"/>
            <a:ext cx="3593592" cy="572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72 %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7973568" y="4922398"/>
            <a:ext cx="3593592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pointage auto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" y="5559552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41248" y="5870448"/>
            <a:ext cx="100584" cy="100584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42416" y="5614416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adoption du pointage automatique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453128" y="5870448"/>
            <a:ext cx="100584" cy="100584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54296" y="5614416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d'assiduité en avril–mai, repli estival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065008" y="5870448"/>
            <a:ext cx="100584" cy="100584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66176" y="5614416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Agences à surveiller identifiées pour action RH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Environnement technique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00200"/>
            <a:ext cx="1353312" cy="13167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pic>
        <p:nvPicPr>
          <p:cNvPr id="8" name="Image 0" descr="/home/user/oussema_korbosli/rapport-latex/images/logos/ja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764792"/>
            <a:ext cx="585216" cy="5852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2648" y="244144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048256" y="1600200"/>
            <a:ext cx="1353312" cy="13167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pic>
        <p:nvPicPr>
          <p:cNvPr id="11" name="Image 1" descr="/home/user/oussema_korbosli/rapport-latex/images/logos/jakarta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152" y="1779270"/>
            <a:ext cx="731520" cy="5562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93976" y="244144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EE 10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529584" y="1600200"/>
            <a:ext cx="1353312" cy="13167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pic>
        <p:nvPicPr>
          <p:cNvPr id="14" name="Image 2" descr="/home/user/oussema_korbosli/rapport-latex/images/logos/hibern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1764792"/>
            <a:ext cx="585216" cy="5852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75304" y="244144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010912" y="1600200"/>
            <a:ext cx="1353312" cy="13167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pic>
        <p:nvPicPr>
          <p:cNvPr id="17" name="Image 3" descr="/home/user/oussema_korbosli/rapport-latex/images/logos/ora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764792"/>
            <a:ext cx="585216" cy="58521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056632" y="244144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66928" y="3081528"/>
            <a:ext cx="1353312" cy="13167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pic>
        <p:nvPicPr>
          <p:cNvPr id="20" name="Image 4" descr="/home/user/oussema_korbosli/rapport-latex/images/logos/wildfl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3246120"/>
            <a:ext cx="585216" cy="58521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12648" y="3922776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WildFly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2048256" y="3081528"/>
            <a:ext cx="1353312" cy="13167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pic>
        <p:nvPicPr>
          <p:cNvPr id="23" name="Image 5" descr="/home/user/oussema_korbosli/rapport-latex/images/logos/mav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9152" y="3446526"/>
            <a:ext cx="731520" cy="18440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2093976" y="3922776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3529584" y="3081528"/>
            <a:ext cx="1353312" cy="13167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pic>
        <p:nvPicPr>
          <p:cNvPr id="26" name="Image 6" descr="/home/user/oussema_korbosli/rapport-latex/images/logos/powerb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3632" y="3246120"/>
            <a:ext cx="585216" cy="58521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575304" y="3922776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5010912" y="3081528"/>
            <a:ext cx="1353312" cy="13167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pic>
        <p:nvPicPr>
          <p:cNvPr id="29" name="Image 7" descr="/home/user/oussema_korbosli/rapport-latex/images/logos/pyth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4960" y="3246120"/>
            <a:ext cx="585216" cy="585216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056632" y="3922776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31" name="Text 21"/>
          <p:cNvSpPr/>
          <p:nvPr/>
        </p:nvSpPr>
        <p:spPr>
          <a:xfrm>
            <a:off x="6446520" y="162763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PILE APPLICATIVE</a:t>
            </a:r>
            <a:endParaRPr lang="en-US" sz="1050" dirty="0"/>
          </a:p>
        </p:txBody>
      </p:sp>
      <p:sp>
        <p:nvSpPr>
          <p:cNvPr id="32" name="Shape 22"/>
          <p:cNvSpPr/>
          <p:nvPr/>
        </p:nvSpPr>
        <p:spPr>
          <a:xfrm>
            <a:off x="6446520" y="2103120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6720840" y="195681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et Jakarta EE 10, empaquetés par Maven</a:t>
            </a:r>
            <a:endParaRPr lang="en-US" sz="1250" dirty="0"/>
          </a:p>
        </p:txBody>
      </p:sp>
      <p:sp>
        <p:nvSpPr>
          <p:cNvPr id="34" name="Shape 24"/>
          <p:cNvSpPr/>
          <p:nvPr/>
        </p:nvSpPr>
        <p:spPr>
          <a:xfrm>
            <a:off x="6446520" y="2560320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720840" y="241401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pour la persistance, base Oracle</a:t>
            </a:r>
            <a:endParaRPr lang="en-US" sz="1250" dirty="0"/>
          </a:p>
        </p:txBody>
      </p:sp>
      <p:sp>
        <p:nvSpPr>
          <p:cNvPr id="36" name="Shape 26"/>
          <p:cNvSpPr/>
          <p:nvPr/>
        </p:nvSpPr>
        <p:spPr>
          <a:xfrm>
            <a:off x="6446520" y="3017520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6720840" y="287121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sur WildFly, racine /gestion-agences</a:t>
            </a:r>
            <a:endParaRPr lang="en-US" sz="1250" dirty="0"/>
          </a:p>
        </p:txBody>
      </p:sp>
      <p:sp>
        <p:nvSpPr>
          <p:cNvPr id="38" name="Text 28"/>
          <p:cNvSpPr/>
          <p:nvPr/>
        </p:nvSpPr>
        <p:spPr>
          <a:xfrm>
            <a:off x="6446520" y="360273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VOLET DÉCISIONNEL</a:t>
            </a:r>
            <a:endParaRPr lang="en-US" sz="1050" dirty="0"/>
          </a:p>
        </p:txBody>
      </p:sp>
      <p:sp>
        <p:nvSpPr>
          <p:cNvPr id="39" name="Shape 29"/>
          <p:cNvSpPr/>
          <p:nvPr/>
        </p:nvSpPr>
        <p:spPr>
          <a:xfrm>
            <a:off x="6446520" y="4078224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6720840" y="393192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ETL en Python (pandas)</a:t>
            </a:r>
            <a:endParaRPr lang="en-US" sz="1250" dirty="0"/>
          </a:p>
        </p:txBody>
      </p:sp>
      <p:sp>
        <p:nvSpPr>
          <p:cNvPr id="41" name="Shape 31"/>
          <p:cNvSpPr/>
          <p:nvPr/>
        </p:nvSpPr>
        <p:spPr>
          <a:xfrm>
            <a:off x="6446520" y="4535424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6720840" y="438912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avec scikit-learn</a:t>
            </a:r>
            <a:endParaRPr lang="en-US" sz="1250" dirty="0"/>
          </a:p>
        </p:txBody>
      </p:sp>
      <p:sp>
        <p:nvSpPr>
          <p:cNvPr id="43" name="Shape 33"/>
          <p:cNvSpPr/>
          <p:nvPr/>
        </p:nvSpPr>
        <p:spPr>
          <a:xfrm>
            <a:off x="6446520" y="4992624"/>
            <a:ext cx="109728" cy="109728"/>
          </a:xfrm>
          <a:prstGeom prst="ellipse">
            <a:avLst/>
          </a:prstGeom>
          <a:solidFill>
            <a:srgbClr val="3C6FC3"/>
          </a:solidFill>
          <a:ln w="12700">
            <a:solidFill>
              <a:srgbClr val="3C6FC3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6720840" y="484632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Power BI sur les vues V_BI_*</a:t>
            </a:r>
            <a:endParaRPr lang="en-US" sz="1250" dirty="0"/>
          </a:p>
        </p:txBody>
      </p:sp>
      <p:sp>
        <p:nvSpPr>
          <p:cNvPr id="45" name="Shape 35"/>
          <p:cNvSpPr/>
          <p:nvPr/>
        </p:nvSpPr>
        <p:spPr>
          <a:xfrm>
            <a:off x="566928" y="4901184"/>
            <a:ext cx="5669280" cy="896112"/>
          </a:xfrm>
          <a:prstGeom prst="roundRect">
            <a:avLst>
              <a:gd name="adj" fmla="val 6122"/>
            </a:avLst>
          </a:prstGeom>
          <a:solidFill>
            <a:srgbClr val="0A2558"/>
          </a:solidFill>
          <a:ln w="12700">
            <a:solidFill>
              <a:srgbClr val="0A2558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566928" y="4901184"/>
            <a:ext cx="5669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scénarios de tests fonctionnels — tous conformes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9808" y="502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4E7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95528" y="23317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05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49808" y="2688336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artificielle &amp; démonstration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0" y="431596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Zoom technique — segmentation par K-Means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 regrouper les agences en profils homogènes à partir de six indicateurs réels, sans étiquette préalable (apprentissage non supervisé).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55778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219456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A2558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1945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99616" y="208483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Prétraitement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99616" y="245059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sur les montants puis centrage-réduction (6 variables)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035808"/>
            <a:ext cx="55778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3218688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A2558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2186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99616" y="3108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Choix de 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99616" y="34747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Coude et silhouette → k = 3, exploitable pour le pilotage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059936"/>
            <a:ext cx="55778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" y="424281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A2558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4242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499616" y="413308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Comparaison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99616" y="449884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hiérarchique, GMM et DBSCAN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5084064"/>
            <a:ext cx="55778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" y="5266944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A2558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" y="5266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499616" y="515721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Modèle retenu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99616" y="552297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: meilleure silhouette (0,604) et cohésion (95,2)</a:t>
            </a:r>
            <a:endParaRPr lang="en-US" sz="1150" dirty="0"/>
          </a:p>
        </p:txBody>
      </p:sp>
      <p:pic>
        <p:nvPicPr>
          <p:cNvPr id="28" name="Image 0" descr="/home/user/oussema_korbosli/rapport-latex/images/clustering_p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216506"/>
            <a:ext cx="5212080" cy="361370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Résultats de la segmentation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54480"/>
            <a:ext cx="3502152" cy="3657600"/>
          </a:xfrm>
          <a:prstGeom prst="roundRect">
            <a:avLst>
              <a:gd name="adj" fmla="val 156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554480"/>
            <a:ext cx="3502152" cy="7315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783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E7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41248" y="24871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Agences d'exploitation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41248" y="2889504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880 clients · 12 employés · 7,80 MDT de crédits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1248" y="3584448"/>
            <a:ext cx="914400" cy="22860"/>
          </a:xfrm>
          <a:prstGeom prst="rect">
            <a:avLst/>
          </a:prstGeom>
          <a:solidFill>
            <a:srgbClr val="DDE3ED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7490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différenciés, diffusion des bonnes pratiques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1554480"/>
            <a:ext cx="3502152" cy="3657600"/>
          </a:xfrm>
          <a:prstGeom prst="roundRect">
            <a:avLst>
              <a:gd name="adj" fmla="val 156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554480"/>
            <a:ext cx="3502152" cy="7315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1783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E7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617720" y="24871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Entités de production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617720" y="2889504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 aucun client · 14,61 MDT de crédits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17720" y="3584448"/>
            <a:ext cx="914400" cy="22860"/>
          </a:xfrm>
          <a:prstGeom prst="rect">
            <a:avLst/>
          </a:prstGeom>
          <a:solidFill>
            <a:srgbClr val="DDE3ED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37490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ces financements réalisés hors guichet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19872" y="1554480"/>
            <a:ext cx="3502152" cy="3657600"/>
          </a:xfrm>
          <a:prstGeom prst="roundRect">
            <a:avLst>
              <a:gd name="adj" fmla="val 1567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19872" y="1554480"/>
            <a:ext cx="3502152" cy="7315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23" name="Text 21"/>
          <p:cNvSpPr/>
          <p:nvPr/>
        </p:nvSpPr>
        <p:spPr>
          <a:xfrm>
            <a:off x="8394192" y="1783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E7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8394192" y="24871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Entités sans activité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8394192" y="2889504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clientèle, ni comptes, ni production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394192" y="3584448"/>
            <a:ext cx="914400" cy="22860"/>
          </a:xfrm>
          <a:prstGeom prst="rect">
            <a:avLst/>
          </a:prstGeom>
          <a:solidFill>
            <a:srgbClr val="DDE3ED"/>
          </a:solidFill>
          <a:ln/>
        </p:spPr>
      </p:sp>
      <p:sp>
        <p:nvSpPr>
          <p:cNvPr id="27" name="Text 25"/>
          <p:cNvSpPr/>
          <p:nvPr/>
        </p:nvSpPr>
        <p:spPr>
          <a:xfrm>
            <a:off x="8394192" y="37490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Statuer : ouverture, rattachement ou intégration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5413248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0A2558"/>
          </a:solidFill>
          <a:ln w="12700">
            <a:solidFill>
              <a:srgbClr val="0A25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54132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 décisionnel : différencier les objectifs selon le régime d'activité réel et fiabiliser le référentiel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5179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Parcours de démonstration — les trois rôles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1234440" cy="2743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43230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circuit est suivi de bout en bout : on se connecte, on agit, et l'on voit la trace de l'action.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962656"/>
            <a:ext cx="3502152" cy="1389888"/>
          </a:xfrm>
          <a:prstGeom prst="roundRect">
            <a:avLst>
              <a:gd name="adj" fmla="val 5263"/>
            </a:avLst>
          </a:prstGeom>
          <a:solidFill>
            <a:srgbClr val="1D4EA0"/>
          </a:solidFill>
          <a:ln w="12700">
            <a:solidFill>
              <a:srgbClr val="1D4E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3145536"/>
            <a:ext cx="384048" cy="384048"/>
          </a:xfrm>
          <a:prstGeom prst="ellipse">
            <a:avLst/>
          </a:prstGeom>
          <a:solidFill>
            <a:srgbClr val="0A2558"/>
          </a:solidFill>
          <a:ln w="12700">
            <a:solidFill>
              <a:srgbClr val="0A25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25296" y="31272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Connexion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54096" y="3145536"/>
            <a:ext cx="868680" cy="274320"/>
          </a:xfrm>
          <a:prstGeom prst="rect">
            <a:avLst>
              <a:gd name="adj" fmla="val 13333"/>
            </a:avLst>
          </a:prstGeom>
          <a:solidFill>
            <a:srgbClr val="3C6FC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49808" y="358444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Identifiants vérifiés, rôle chargé en session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51960" y="2962656"/>
            <a:ext cx="3502152" cy="1389888"/>
          </a:xfrm>
          <a:prstGeom prst="roundRect">
            <a:avLst>
              <a:gd name="adj" fmla="val 5263"/>
            </a:avLst>
          </a:prstGeom>
          <a:solidFill>
            <a:srgbClr val="1D4EA0"/>
          </a:solidFill>
          <a:ln w="12700">
            <a:solidFill>
              <a:srgbClr val="1D4E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3145536"/>
            <a:ext cx="384048" cy="384048"/>
          </a:xfrm>
          <a:prstGeom prst="ellipse">
            <a:avLst/>
          </a:prstGeom>
          <a:solidFill>
            <a:srgbClr val="0A2558"/>
          </a:solidFill>
          <a:ln w="12700">
            <a:solidFill>
              <a:srgbClr val="0A25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10328" y="31272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de bord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39128" y="3145536"/>
            <a:ext cx="868680" cy="274320"/>
          </a:xfrm>
          <a:prstGeom prst="rect">
            <a:avLst>
              <a:gd name="adj" fmla="val 13333"/>
            </a:avLst>
          </a:prstGeom>
          <a:solidFill>
            <a:srgbClr val="3C6FC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434840" y="358444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Indicateurs, graphiques et actions requises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36992" y="2962656"/>
            <a:ext cx="3502152" cy="1389888"/>
          </a:xfrm>
          <a:prstGeom prst="roundRect">
            <a:avLst>
              <a:gd name="adj" fmla="val 5263"/>
            </a:avLst>
          </a:prstGeom>
          <a:solidFill>
            <a:srgbClr val="1D4EA0"/>
          </a:solidFill>
          <a:ln w="12700">
            <a:solidFill>
              <a:srgbClr val="1D4E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19872" y="3145536"/>
            <a:ext cx="384048" cy="384048"/>
          </a:xfrm>
          <a:prstGeom prst="ellipse">
            <a:avLst/>
          </a:prstGeom>
          <a:solidFill>
            <a:srgbClr val="0A2558"/>
          </a:solidFill>
          <a:ln w="12700">
            <a:solidFill>
              <a:srgbClr val="0A25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19872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95360" y="31272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Employés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424160" y="3145536"/>
            <a:ext cx="868680" cy="274320"/>
          </a:xfrm>
          <a:prstGeom prst="rect">
            <a:avLst>
              <a:gd name="adj" fmla="val 13333"/>
            </a:avLst>
          </a:prstGeom>
          <a:solidFill>
            <a:srgbClr val="3C6FC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119872" y="358444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d'un employé, filtre et liste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4535424"/>
            <a:ext cx="3502152" cy="1389888"/>
          </a:xfrm>
          <a:prstGeom prst="roundRect">
            <a:avLst>
              <a:gd name="adj" fmla="val 5263"/>
            </a:avLst>
          </a:prstGeom>
          <a:solidFill>
            <a:srgbClr val="1D4EA0"/>
          </a:solidFill>
          <a:ln w="12700">
            <a:solidFill>
              <a:srgbClr val="1D4E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4718304"/>
            <a:ext cx="384048" cy="384048"/>
          </a:xfrm>
          <a:prstGeom prst="ellipse">
            <a:avLst/>
          </a:prstGeom>
          <a:solidFill>
            <a:srgbClr val="0A2558"/>
          </a:solidFill>
          <a:ln w="12700">
            <a:solidFill>
              <a:srgbClr val="0A25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25296" y="47000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Agences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054096" y="4718304"/>
            <a:ext cx="868680" cy="274320"/>
          </a:xfrm>
          <a:prstGeom prst="rect">
            <a:avLst>
              <a:gd name="adj" fmla="val 13333"/>
            </a:avLst>
          </a:prstGeom>
          <a:solidFill>
            <a:srgbClr val="3C6FC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49808" y="515721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et suppression d'une agence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251960" y="4535424"/>
            <a:ext cx="3502152" cy="1389888"/>
          </a:xfrm>
          <a:prstGeom prst="roundRect">
            <a:avLst>
              <a:gd name="adj" fmla="val 5263"/>
            </a:avLst>
          </a:prstGeom>
          <a:solidFill>
            <a:srgbClr val="1D4EA0"/>
          </a:solidFill>
          <a:ln w="12700">
            <a:solidFill>
              <a:srgbClr val="1D4E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34840" y="4718304"/>
            <a:ext cx="384048" cy="384048"/>
          </a:xfrm>
          <a:prstGeom prst="ellipse">
            <a:avLst/>
          </a:prstGeom>
          <a:solidFill>
            <a:srgbClr val="0A2558"/>
          </a:solidFill>
          <a:ln w="12700">
            <a:solidFill>
              <a:srgbClr val="0A25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10328" y="47000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Pointage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39128" y="4718304"/>
            <a:ext cx="868680" cy="274320"/>
          </a:xfrm>
          <a:prstGeom prst="rect">
            <a:avLst>
              <a:gd name="adj" fmla="val 13333"/>
            </a:avLst>
          </a:prstGeom>
          <a:solidFill>
            <a:srgbClr val="3C6FC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434840" y="515721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Arrivée, départ et statut calculé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936992" y="4535424"/>
            <a:ext cx="3502152" cy="1389888"/>
          </a:xfrm>
          <a:prstGeom prst="roundRect">
            <a:avLst>
              <a:gd name="adj" fmla="val 5263"/>
            </a:avLst>
          </a:prstGeom>
          <a:solidFill>
            <a:srgbClr val="1D4EA0"/>
          </a:solidFill>
          <a:ln w="12700">
            <a:solidFill>
              <a:srgbClr val="1D4E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19872" y="4718304"/>
            <a:ext cx="384048" cy="384048"/>
          </a:xfrm>
          <a:prstGeom prst="ellipse">
            <a:avLst/>
          </a:prstGeom>
          <a:solidFill>
            <a:srgbClr val="0A2558"/>
          </a:solidFill>
          <a:ln w="12700">
            <a:solidFill>
              <a:srgbClr val="0A255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19872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595360" y="47000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424160" y="4718304"/>
            <a:ext cx="868680" cy="274320"/>
          </a:xfrm>
          <a:prstGeom prst="rect">
            <a:avLst>
              <a:gd name="adj" fmla="val 13333"/>
            </a:avLst>
          </a:prstGeom>
          <a:solidFill>
            <a:srgbClr val="3C6FC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DIRECTEUR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119872" y="515721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Approbation d'une demande de modification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66928" y="61447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quatre pages Power BI ont été présentées dans la partie précédente.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Authentification de l'administrateur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188720"/>
            <a:ext cx="11064240" cy="4434840"/>
          </a:xfrm>
          <a:prstGeom prst="roundRect">
            <a:avLst>
              <a:gd name="adj" fmla="val 1237"/>
            </a:avLst>
          </a:prstGeom>
          <a:solidFill>
            <a:srgbClr val="F0F3F8"/>
          </a:solidFill>
          <a:ln w="19050">
            <a:solidFill>
              <a:srgbClr val="3C6FC3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66928" y="1188720"/>
            <a:ext cx="11064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attendue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../presentation/captures/01-auth-admin.png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5779008"/>
            <a:ext cx="50292" cy="402336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576072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L'identifiant et le mot de passe sont vérifiés dans SECURITY_USERS ; le rôle est chargé en session et conditionne tout l'accès.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Ajout d'un employé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188720"/>
            <a:ext cx="11064240" cy="4434840"/>
          </a:xfrm>
          <a:prstGeom prst="roundRect">
            <a:avLst>
              <a:gd name="adj" fmla="val 1237"/>
            </a:avLst>
          </a:prstGeom>
          <a:solidFill>
            <a:srgbClr val="F0F3F8"/>
          </a:solidFill>
          <a:ln w="19050">
            <a:solidFill>
              <a:srgbClr val="3C6FC3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66928" y="1188720"/>
            <a:ext cx="11064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attendue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../presentation/captures/02-ajout-employe.png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5779008"/>
            <a:ext cx="50292" cy="402336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576072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L'administrateur crée l'employé et son compte de connexion, le rattache à son agence, et l'action est inscrite au journal d'audit.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Pointage de l'utilisateur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188720"/>
            <a:ext cx="11064240" cy="4434840"/>
          </a:xfrm>
          <a:prstGeom prst="roundRect">
            <a:avLst>
              <a:gd name="adj" fmla="val 1237"/>
            </a:avLst>
          </a:prstGeom>
          <a:solidFill>
            <a:srgbClr val="F0F3F8"/>
          </a:solidFill>
          <a:ln w="19050">
            <a:solidFill>
              <a:srgbClr val="3C6FC3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66928" y="1188720"/>
            <a:ext cx="11064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attendue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../presentation/captures/03-pointage-utilisateur.png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5779008"/>
            <a:ext cx="50292" cy="402336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576072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L'employé pointe son arrivée et son départ ; le statut est calculé par le serveur — au-delà de 9 h, c'est un retard.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demande arrive chez le directeur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188720"/>
            <a:ext cx="11064240" cy="4434840"/>
          </a:xfrm>
          <a:prstGeom prst="roundRect">
            <a:avLst>
              <a:gd name="adj" fmla="val 1237"/>
            </a:avLst>
          </a:prstGeom>
          <a:solidFill>
            <a:srgbClr val="F0F3F8"/>
          </a:solidFill>
          <a:ln w="19050">
            <a:solidFill>
              <a:srgbClr val="3C6FC3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66928" y="1188720"/>
            <a:ext cx="11064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attendue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../presentation/captures/04-demande-directeur.png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5779008"/>
            <a:ext cx="50292" cy="402336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576072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demande de modification passe en attente ; le directeur approuve ou refuse, mais la donnée n'est modifiée qu'après exécution par l'administrateur.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Assistant intégré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188720"/>
            <a:ext cx="11064240" cy="4434840"/>
          </a:xfrm>
          <a:prstGeom prst="roundRect">
            <a:avLst>
              <a:gd name="adj" fmla="val 1237"/>
            </a:avLst>
          </a:prstGeom>
          <a:solidFill>
            <a:srgbClr val="F0F3F8"/>
          </a:solidFill>
          <a:ln w="19050">
            <a:solidFill>
              <a:srgbClr val="3C6FC3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66928" y="1188720"/>
            <a:ext cx="11064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attendue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../presentation/captures/05-assistant.png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5779008"/>
            <a:ext cx="50292" cy="402336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576072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assistant conversationnel répond aux questions sur les données de l'application, à partir des mêmes indicateurs que le tableau de bord.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9808" y="502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4E7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95528" y="23317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C6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06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49808" y="2688336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perspectives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0" y="431596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00200"/>
            <a:ext cx="1106424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892808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A2558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8928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91056" y="1746504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web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591056" y="2148840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centralisée du réseau : agences, employés, clients, objectifs, rôles, pointage et circuits de validation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898648"/>
            <a:ext cx="1106424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319125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A2558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91056" y="304495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Chaîne décisionnelle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591056" y="3447288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Python, datamart en étoile et quatre tableaux de bord Power BI sur les données réelles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197096"/>
            <a:ext cx="1106424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4489704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A2558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44897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91056" y="43434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artificielle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591056" y="4745736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du réseau en trois profils d'agences directement exploitables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5504688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0A2558"/>
          </a:solidFill>
          <a:ln w="12700">
            <a:solidFill>
              <a:srgbClr val="0A25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550468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système complet, de la donnée opérationnelle jusqu'à la décision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25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B58A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6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Perspectives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00200"/>
            <a:ext cx="525780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00200"/>
            <a:ext cx="73152" cy="1225296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9" name="Text 7"/>
          <p:cNvSpPr/>
          <p:nvPr/>
        </p:nvSpPr>
        <p:spPr>
          <a:xfrm>
            <a:off x="886968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Sécurité renforcée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86968" y="21671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Hachage des mots de passe et durcissement des accès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0488" y="1600200"/>
            <a:ext cx="525780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0488" y="1600200"/>
            <a:ext cx="73152" cy="1225296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3" name="Text 11"/>
          <p:cNvSpPr/>
          <p:nvPr/>
        </p:nvSpPr>
        <p:spPr>
          <a:xfrm>
            <a:off x="6510528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Industrialisation de l'ETL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10528" y="21671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Ordonnancement automatique et historisation incrémentale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063240"/>
            <a:ext cx="525780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3063240"/>
            <a:ext cx="73152" cy="1225296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7" name="Text 15"/>
          <p:cNvSpPr/>
          <p:nvPr/>
        </p:nvSpPr>
        <p:spPr>
          <a:xfrm>
            <a:off x="886968" y="3246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Analyses prédictives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86968" y="36301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 des objectifs commerciaux par agence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0488" y="3063240"/>
            <a:ext cx="525780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0488" y="3063240"/>
            <a:ext cx="73152" cy="1225296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3246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REST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510528" y="36301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Interopérabilité avec les autres systèmes de la banque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526280"/>
            <a:ext cx="525780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4526280"/>
            <a:ext cx="73152" cy="1225296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25" name="Text 23"/>
          <p:cNvSpPr/>
          <p:nvPr/>
        </p:nvSpPr>
        <p:spPr>
          <a:xfrm>
            <a:off x="886968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mobile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86968" y="50932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des indicateurs en mobilité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90488" y="4526280"/>
            <a:ext cx="525780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0488" y="4526280"/>
            <a:ext cx="73152" cy="1225296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29" name="Text 27"/>
          <p:cNvSpPr/>
          <p:nvPr/>
        </p:nvSpPr>
        <p:spPr>
          <a:xfrm>
            <a:off x="6510528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Alertes automatiques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510528" y="50932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des agences sous les seuils critiques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556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agences BTK — PFE Oussema Korbosli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40135" y="6455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646920" y="0"/>
            <a:ext cx="13716" cy="6858000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5" name="Shape 3"/>
          <p:cNvSpPr/>
          <p:nvPr/>
        </p:nvSpPr>
        <p:spPr>
          <a:xfrm>
            <a:off x="10030968" y="0"/>
            <a:ext cx="13716" cy="6858000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6" name="Shape 4"/>
          <p:cNvSpPr/>
          <p:nvPr/>
        </p:nvSpPr>
        <p:spPr>
          <a:xfrm>
            <a:off x="10415016" y="0"/>
            <a:ext cx="13716" cy="6858000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7" name="Shape 5"/>
          <p:cNvSpPr/>
          <p:nvPr/>
        </p:nvSpPr>
        <p:spPr>
          <a:xfrm>
            <a:off x="10799064" y="0"/>
            <a:ext cx="13716" cy="6858000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0"/>
            <a:ext cx="13716" cy="6858000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9" name="Shape 7"/>
          <p:cNvSpPr/>
          <p:nvPr/>
        </p:nvSpPr>
        <p:spPr>
          <a:xfrm>
            <a:off x="11567160" y="0"/>
            <a:ext cx="13716" cy="6858000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651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POUR VOTRE ATTENTION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66928" y="3657600"/>
            <a:ext cx="1234440" cy="27432"/>
          </a:xfrm>
          <a:prstGeom prst="rect">
            <a:avLst/>
          </a:prstGeom>
          <a:solidFill>
            <a:srgbClr val="3C6FC3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9319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pic>
        <p:nvPicPr>
          <p:cNvPr id="13" name="Image 0" descr="/home/user/oussema_korbosli/rapport-latex/images/logo_es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029200"/>
            <a:ext cx="1417320" cy="859536"/>
          </a:xfrm>
          <a:prstGeom prst="rect">
            <a:avLst/>
          </a:prstGeom>
        </p:spPr>
      </p:pic>
      <p:pic>
        <p:nvPicPr>
          <p:cNvPr id="14" name="Image 1" descr="/home/user/oussema_korbosli/rapport-latex/images/logo_bt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5029200"/>
            <a:ext cx="777240" cy="8138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PFE — Gestion des agences BTK</dc:title>
  <dc:subject>PptxGenJS Presentation</dc:subject>
  <dc:creator>Oussema Korbosli</dc:creator>
  <cp:lastModifiedBy>Oussema Korbosli</cp:lastModifiedBy>
  <cp:revision>1</cp:revision>
  <dcterms:created xsi:type="dcterms:W3CDTF">2026-09-02T21:01:24Z</dcterms:created>
  <dcterms:modified xsi:type="dcterms:W3CDTF">2026-09-02T21:01:24Z</dcterms:modified>
</cp:coreProperties>
</file>