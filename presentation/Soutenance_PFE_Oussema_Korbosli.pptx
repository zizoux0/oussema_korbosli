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pic>
        <p:nvPicPr>
          <p:cNvPr id="10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1572768" cy="950976"/>
          </a:xfrm>
          <a:prstGeom prst="rect">
            <a:avLst/>
          </a:prstGeom>
        </p:spPr>
      </p:pic>
      <p:pic>
        <p:nvPicPr>
          <p:cNvPr id="11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658368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" y="1783080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DE FIN D'ÉTUDES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219456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intelligent de gestion des rôles et</a:t>
            </a:r>
            <a:endParaRPr lang="en-US" sz="28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pointage avec tableau de bord décisionnel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566928" y="365760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6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Intelligence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566928" y="4169664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2"/>
          <p:cNvSpPr/>
          <p:nvPr/>
        </p:nvSpPr>
        <p:spPr>
          <a:xfrm>
            <a:off x="566928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Oussema Korbosli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66928" y="4956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Maître de stage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ELMOULA Melek Aziz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66928" y="5257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académique : </a:t>
            </a:r>
            <a:pPr indent="0" marL="0">
              <a:buNone/>
            </a:pPr>
            <a:r>
              <a:rPr lang="en-US" sz="125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 ABIDI Heni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66928" y="581558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BTK – Banque Tuniso-Koweïtienne   ·   Année universitaire 2025/2026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310128" cy="6858000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834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9776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9776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général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9776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9776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Spécifications des besoins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9776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9776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&amp; architecture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92440" y="105156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092440" y="17282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Volet décisionnel &amp; réalisation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92440" y="278892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346557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artificielle &amp; démonstration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4526280"/>
            <a:ext cx="1097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92440" y="520293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général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64240" cy="1481328"/>
          </a:xfrm>
          <a:prstGeom prst="roundRect">
            <a:avLst>
              <a:gd name="adj" fmla="val 3704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01498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Une donnée dispersée ne décide rien : c'est en la consolidant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qu'elle devient un instrument de pilotage. »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" y="334670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3200400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45 agences réparties sur tout le territoire tunisien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12464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éclatées entre plusieurs fichiers et applications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4224528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besoin de piloter la performance commerciale et l'assiduité des équipes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736592"/>
            <a:ext cx="1078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direction qui doit décider vite, sur des indicateurs fiables et à jour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53492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du projet : centraliser la gestion du réseau et transformer les données opérationnelles en indicateurs d'aide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 de l'organisme d'accueil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5321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_bt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643" y="1737360"/>
            <a:ext cx="96393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85292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BTK – Banque Tuniso-Koweïtienne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932688" y="34564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7008" y="33101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 universelle de droit tunisien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32688" y="39136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7673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 le 25 février 1981 (coopération Tunisie – Koweït)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32688" y="43708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42245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social de 200 millions de dinars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32688" y="4828032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681728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social à Tunis, réseau national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446520" y="15361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EFFECTUÉ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446520" y="1847088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46520" y="1847088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8"/>
          <p:cNvSpPr/>
          <p:nvPr/>
        </p:nvSpPr>
        <p:spPr>
          <a:xfrm>
            <a:off x="6720840" y="193852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Département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20840" y="22677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46520" y="2907792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2907792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2"/>
          <p:cNvSpPr/>
          <p:nvPr/>
        </p:nvSpPr>
        <p:spPr>
          <a:xfrm>
            <a:off x="6720840" y="29992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20840" y="33284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février → 16 juin 2026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6446520" y="3968496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46520" y="3968496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6"/>
          <p:cNvSpPr/>
          <p:nvPr/>
        </p:nvSpPr>
        <p:spPr>
          <a:xfrm>
            <a:off x="6720840" y="40599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20840" y="4389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mois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6446520" y="5029200"/>
            <a:ext cx="5212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46520" y="5029200"/>
            <a:ext cx="73152" cy="9144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0"/>
          <p:cNvSpPr/>
          <p:nvPr/>
        </p:nvSpPr>
        <p:spPr>
          <a:xfrm>
            <a:off x="6720840" y="512064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Encadrement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720840" y="54498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M. ELMOULA Melek Aziz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réseau BTK en chiffres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74720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employés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6291072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29 942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91072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15984" y="160020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15984" y="160020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9107424" y="185623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107424" y="259232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58368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ouverts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383280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3280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3474720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crédits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99632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9632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6291072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 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291072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d'épargne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9015984" y="3520440"/>
            <a:ext cx="2615184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15984" y="3520440"/>
            <a:ext cx="2615184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7" name="Text 35"/>
          <p:cNvSpPr/>
          <p:nvPr/>
        </p:nvSpPr>
        <p:spPr>
          <a:xfrm>
            <a:off x="9107424" y="3776472"/>
            <a:ext cx="2432304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9107424" y="4512564"/>
            <a:ext cx="24323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4132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6928" y="54132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issus du datamart réel produit par la chaîne ETL du projet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Problématiques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10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572768" y="1572768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données d'activité dispersées, saisies et consolidées manuellement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4320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80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80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2743200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suivi de la présence des employés sans traçabilité fiable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15137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5137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572768" y="3913632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consolidée de la performance du réseau d'agences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321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321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572768" y="5084064"/>
            <a:ext cx="9784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de pilotage indisponibles au moment de décider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Étude de l'existant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ENVISAGÉES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9842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Tableurs Excel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3500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manuelle des données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8376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118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Progiciel du marché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4838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intégrée sur étagère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5029200" cy="969264"/>
          </a:xfrm>
          <a:prstGeom prst="roundRect">
            <a:avLst>
              <a:gd name="adj" fmla="val 566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Développement sur mesure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617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adaptée au métier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8064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37960" y="15361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CONSTATÉES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1874520"/>
            <a:ext cx="5120640" cy="3145536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0" y="22494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0880" y="21031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d'erreurs et de doublons de saisie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66560" y="27066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0" y="25603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gestion des rôles ni des droits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766560" y="31638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0" y="30175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traçabilité des opérations sensibles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766560" y="36210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34747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élevé des progiciels du marché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766560" y="4078224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3931920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 des indicateurs impossible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52852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285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: une solution développée sur mesure, alignée sur les processus réels de la BTK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 proposée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41248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41248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des agences, employés, clients et objectifs · rôles et droits · pointage · circuits de 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· Oracle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17720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77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617720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ETL consolidant les données dans un datamart en étoile, restitué par des tableaux de bord Power BI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617720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Power BI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41148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8394192" y="184708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94192" y="2542032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8394192" y="3255264"/>
            <a:ext cx="2971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automatique des agences en profils homogènes pour un pilotage différencié du réseau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512064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solution, de la saisie opérationnelle jusqu'à l'aide à la décision.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Méthodologie adoptée : CRISP-DM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centré sur les données : Scrum structure la production logicielle, mais ne couvre pas les étapes d'analyse et de valorisation des données.</a:t>
            </a:r>
            <a:endParaRPr lang="en-US" sz="1300" dirty="0"/>
          </a:p>
        </p:txBody>
      </p:sp>
      <p:pic>
        <p:nvPicPr>
          <p:cNvPr id="8" name="Image 0" descr="/home/user/oussema_korbosli/rapport-latex/images/crisp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8073" y="1783080"/>
            <a:ext cx="5301310" cy="434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20840" y="1828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CRISP-DM ?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720840" y="22860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21396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 de référence des projets décisionnels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720840" y="27432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95160" y="25968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six phases épousent le déroulement réel du projet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20840" y="32004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30540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agiles conservées : itérations et validations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20840" y="3657600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95160" y="351129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ne couvre pas l'analyse et la valorisation des données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720840" y="4224528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720840" y="4224528"/>
            <a:ext cx="4937760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0" name="Text 17"/>
          <p:cNvSpPr/>
          <p:nvPr/>
        </p:nvSpPr>
        <p:spPr>
          <a:xfrm>
            <a:off x="6967728" y="4407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Correspondance avec le rapport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67728" y="4791456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1–2  →  Chapitres 1 et 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→  Chapitre 3 et chaîne ETL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4–5  →  Chapitre 4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 →  Chapitre 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02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Spécifications des besoins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Identification des acteurs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901952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68096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Administrateur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68096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Couvre les 13 cas d'utilisation : rôles et droits · agences, employés, clients · demandes · pointage · journal d'audit · volet décisionnel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Shape 14"/>
          <p:cNvSpPr/>
          <p:nvPr/>
        </p:nvSpPr>
        <p:spPr>
          <a:xfrm>
            <a:off x="5678424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544568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Directeur commercial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44568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DIRECTEUR_COMMERCIAL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7720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 les employés, les objectifs et le tableau de bord · soumet les demandes de création · valide les modifications des employés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97764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Shape 21"/>
          <p:cNvSpPr/>
          <p:nvPr/>
        </p:nvSpPr>
        <p:spPr>
          <a:xfrm>
            <a:off x="9454896" y="1874520"/>
            <a:ext cx="822960" cy="822960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21040" y="2834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Utilisateur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321040" y="3218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C6FC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94192" y="36118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 son arrivée et son départ · soumet les demandes de modification de ses propres informations · reçoit ses notifications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rôles sont gérés par le module de sécurité (table SECURITY_USERS) et conditionnent l'accès à chaque fonctionnalité.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2704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 &amp; rôles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2704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sécurisée, gestion des droits d'accès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0488" y="1572768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28232" y="1901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6428232" y="1901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50608" y="17922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référentiel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150608" y="217627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des agences, des employés et des clients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2704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Objectifs commerciaux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2704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production par agence et par période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0488" y="3054096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28232" y="338328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4" name="Text 22"/>
          <p:cNvSpPr/>
          <p:nvPr/>
        </p:nvSpPr>
        <p:spPr>
          <a:xfrm>
            <a:off x="6428232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50608" y="32735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 des employés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150608" y="365760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/ départ, statut présent · retard · absent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467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52704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Circuits de validation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52704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validation : approbation du directeur puis exécution par l'admin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0488" y="4535424"/>
            <a:ext cx="5257800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8232" y="486460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A2558"/>
          </a:solidFill>
          <a:ln/>
        </p:spPr>
      </p:sp>
      <p:sp>
        <p:nvSpPr>
          <p:cNvPr id="34" name="Text 32"/>
          <p:cNvSpPr/>
          <p:nvPr/>
        </p:nvSpPr>
        <p:spPr>
          <a:xfrm>
            <a:off x="6428232" y="4864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50608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150608" y="5138928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ETL, tableaux de bord et segmentation des agences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Besoins non fonctionnels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Authentification, rôles et workflows de validation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Fiabilité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 garantie par le SGBD et les transactions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19872" y="169164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69164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394192" y="198424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94192" y="247802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adapté aux volumes manipulés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Ergonomie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claire, navigation par menu latéral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Maintenabilité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17720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couches, code faiblement couplé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9872" y="3840480"/>
            <a:ext cx="3502152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840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8394192" y="4133088"/>
            <a:ext cx="2971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Portabilité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94192" y="4626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Jakarta EE standard, serveur compatible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Conception &amp; architecture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logique en couches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664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Présentation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6968" y="2048256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JSP / JSTL et graphiques ApexCharts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606040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2606040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2697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86968" y="308152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Servlets et filtre de sécurité (NotificationFilter)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639312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639312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730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86968" y="411480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EJB encapsulant les règles de gestion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672584"/>
            <a:ext cx="676656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4672584"/>
            <a:ext cx="82296" cy="89611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886968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Persistance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86968" y="5148072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JPA / Hibernate vers la base Oracle</a:t>
            </a:r>
            <a:endParaRPr lang="en-US" sz="1200" dirty="0"/>
          </a:p>
        </p:txBody>
      </p:sp>
      <p:pic>
        <p:nvPicPr>
          <p:cNvPr id="23" name="Image 0" descr="/home/user/oussema_korbosli/rapport-latex/diagrams/archi_logiq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6996" y="1572768"/>
            <a:ext cx="3599848" cy="40233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66928" y="5870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 MVC : chaque couche est indépendante et faiblement couplée aux autres.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physique (3-tiers)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Poste client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04088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054096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d'applications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 · WAR Jakarta EE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70448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Serveur de données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FREEPDB1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0" y="274320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15984" y="192024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53144" y="23317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53144" y="3017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5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Python ETL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44988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Communication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" y="4846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client dialogue en HTTP avec WildFly, qui accède à Oracle via la source de données JTA java:/OracleDS. Power BI et la chaîne ETL Python se connectent directement aux vues décisionnelles de la base.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Diagramme de cas d'utilisation global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0" descr="/home/user/oussema_korbosli/rapport-latex/diagrams/uc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4819" y="1298448"/>
            <a:ext cx="5968058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41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DU DIAGRAMME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641080" y="20482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acteurs, treize cas d'utilisation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641080" y="25054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23591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cas inclut « S'authentifier » (include)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641080" y="29626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28163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 : les 13 cas, sans exception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41080" y="34198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15400" y="32735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Directeur commercial : 5 cas, dont les employés en consultation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41080" y="3877056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15400" y="37307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: 3 cas — pointage, demandes, notifications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décisionnel en étoile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813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SCHÉMAS COMPARÉS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81051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18836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Étoile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41248" y="2231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lisible, requêtes rapides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7977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Flocon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41248" y="32004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normalisées, plus de jointures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4904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822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Constellation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1248" y="4169664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tables de faits, surdimensionné ici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7548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grains homogènes — l'agence, puis le couple agence × gestionnaire — et peu de dimensions : l'étoile offre la lisibilité attendue par un outil libre-service comme Power 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1810512"/>
            <a:ext cx="5120640" cy="38404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12280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DATAMART CHARGÉ PAR L'ETL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12280" y="23957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86600" y="22494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fait_agence / dim_agence — 7 indicateurs au grain de l'agence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12280" y="285292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86600" y="270662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fait_objectif / dim_gestionnaire — production au grain agence × gestionnaire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12280" y="371246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 SÉMANTIQUE POWER BI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12280" y="41330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39867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vues V_BI_* : production, effectifs, clients, présence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12280" y="45902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44439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conformes AGENCE (SK_AGENCE) et B_UTILISATEURS (SK_UTILISATEUR)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5047488"/>
            <a:ext cx="109728" cy="109728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490118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 et type de client : dimensions dégénérées portées par les vues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04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Volet décisionnel &amp; réalisation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ETL en Python : cinq étapes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49808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Collecte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49808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des 5 tables sources Oracle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51760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98064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5" name="Text 13"/>
          <p:cNvSpPr/>
          <p:nvPr/>
        </p:nvSpPr>
        <p:spPr>
          <a:xfrm>
            <a:off x="2980944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980944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Nettoyage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80944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incomplètes écartées, typage des colonnes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2896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0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0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12080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12080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Agrégation par agence des 7 indicateurs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114032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0336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60336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7" name="Text 25"/>
          <p:cNvSpPr/>
          <p:nvPr/>
        </p:nvSpPr>
        <p:spPr>
          <a:xfrm>
            <a:off x="7443216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443216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43216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sur SK_AGENCE, puis regroupement sur SK_UTILISATEUR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45168" y="237744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9491472" y="1572768"/>
            <a:ext cx="2066544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1472" y="1572768"/>
            <a:ext cx="2066544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33" name="Text 31"/>
          <p:cNvSpPr/>
          <p:nvPr/>
        </p:nvSpPr>
        <p:spPr>
          <a:xfrm>
            <a:off x="9674352" y="17739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9674352" y="2157984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Contrôle qualité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674352" y="25237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manquantes, arrondis et journal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37947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86968" y="3977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Oracle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86968" y="4352544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· B_UTILISATEURS · CLIENT_BTK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B_OBJECTIF · POINTAGE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" y="51389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Chaîne rejouable, exécutée sur les données réelles du réseau.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53796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3796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2" name="Text 40"/>
          <p:cNvSpPr/>
          <p:nvPr/>
        </p:nvSpPr>
        <p:spPr>
          <a:xfrm>
            <a:off x="662940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62940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consolidées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189720" y="3794760"/>
            <a:ext cx="24688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89720" y="3794760"/>
            <a:ext cx="2468880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46" name="Text 44"/>
          <p:cNvSpPr/>
          <p:nvPr/>
        </p:nvSpPr>
        <p:spPr>
          <a:xfrm>
            <a:off x="9281160" y="4109314"/>
            <a:ext cx="2286000" cy="9043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9281160" y="5013655"/>
            <a:ext cx="228600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par agence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Datamart obtenu sur les données réelles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0" descr="/home/user/oussema_korbosli/rapport-latex/images/etl/etl_cel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2306" y="1417320"/>
            <a:ext cx="7313484" cy="3200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28032"/>
            <a:ext cx="110642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86968" y="49743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86968" y="5303520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datamart décrit chaque agence par ses sept indicateurs. BIZERTE et MGHIRA dominent le portefeuille clients, tandis que CENTRALE concentre la production de crédits — une hétérogénéité que la segmentation exploitera.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Intégration du modèle dans Power BI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0" descr="/home/user/oussema_korbosli/rapport-latex/images/etl/pbi_mode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2" y="1371600"/>
            <a:ext cx="4951473" cy="4754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7208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DU MODÈLE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720840" y="1874520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49440" y="19110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B_UTILISATEURS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949440" y="22037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835640" y="187452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720840" y="2624328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2660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B_CLIENTS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949440" y="2953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35640" y="262432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20840" y="3374136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49440" y="34107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AGENCE → B_OBJECTIF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949440" y="37033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SK_AGENCE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35640" y="337413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20840" y="4123944"/>
            <a:ext cx="4937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949440" y="41605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B_UTILISATEURS → POINTAGE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949440" y="4453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SK_UTILISATEUR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35640" y="412394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20840" y="4956048"/>
            <a:ext cx="4937760" cy="1170432"/>
          </a:xfrm>
          <a:prstGeom prst="roundRect">
            <a:avLst>
              <a:gd name="adj" fmla="val 4688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5084064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Filtrage croisé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94944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relations un-à-plusieurs propagent le filtre de la dimension vers les faits : un clic recalcule tous les visuels.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Résumé du réseau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res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1987"/>
            <a:ext cx="7086600" cy="38568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présence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consolidée des indicateurs clés du réseau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pointage sur trois est un retard ou une absence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de production en février, puis tassement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Clients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l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gouvernorats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Portefeuille très majoritairement « particuliers »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concentration sur le Grand Tunis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de développement sur la clientèle professionnelle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Performance commerciale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commer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1,40 Md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105 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83,6 %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 particuliers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équilibrée : immobilier, conso, investissement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comptes chèques dominent les ouvertures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CENTRALE : agence phare, bonnes pratiques à diffuser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 — Présence &amp; assiduité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pic>
        <p:nvPicPr>
          <p:cNvPr id="7" name="Image 0" descr="/home/user/oussema_korbosli/rapport-latex/images/screens/pbi_pres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34827"/>
            <a:ext cx="7086600" cy="385118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82128" y="1371600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82128" y="1371600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7"/>
          <p:cNvSpPr/>
          <p:nvPr/>
        </p:nvSpPr>
        <p:spPr>
          <a:xfrm>
            <a:off x="7973568" y="1570573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87,9 %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973568" y="2142622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présence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82128" y="2761488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82128" y="2761488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4" name="Text 11"/>
          <p:cNvSpPr/>
          <p:nvPr/>
        </p:nvSpPr>
        <p:spPr>
          <a:xfrm>
            <a:off x="7973568" y="2960461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25 %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7973568" y="3532510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3776472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82128" y="4151376"/>
            <a:ext cx="3776472" cy="64008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8" name="Text 15"/>
          <p:cNvSpPr/>
          <p:nvPr/>
        </p:nvSpPr>
        <p:spPr>
          <a:xfrm>
            <a:off x="7973568" y="4350349"/>
            <a:ext cx="3593592" cy="5720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72 %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7973568" y="4922398"/>
            <a:ext cx="359359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pointage auto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559552"/>
            <a:ext cx="110642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4124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4241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adoption du pointage automatique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45312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d'assiduité en avril–mai, repli estival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65008" y="5870448"/>
            <a:ext cx="100584" cy="100584"/>
          </a:xfrm>
          <a:prstGeom prst="ellipse">
            <a:avLst/>
          </a:prstGeom>
          <a:solidFill>
            <a:srgbClr val="3C6FC3"/>
          </a:solidFill>
          <a:ln w="12700">
            <a:solidFill>
              <a:srgbClr val="3C6F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66176" y="561441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à surveiller identifiées pour action RH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Réalisation et environnement technique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8" name="Image 0" descr="/home/user/oussema_korbosli/rapport-latex/images/logos/ja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00784"/>
            <a:ext cx="566928" cy="566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12648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048256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1" name="Image 1" descr="/home/user/oussema_korbosli/rapport-latex/images/logos/jakarta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1706118"/>
            <a:ext cx="731520" cy="5562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93976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EE 10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529584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4" name="Image 2" descr="/home/user/oussema_korbosli/rapport-latex/images/logos/hiber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776" y="1700784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75304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10912" y="155448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17" name="Image 3" descr="/home/user/oussema_korbosli/rapport-latex/images/logos/ora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4104" y="1700784"/>
            <a:ext cx="56692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056632" y="23591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66928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0" name="Image 4" descr="/home/user/oussema_korbosli/rapport-latex/images/logos/wild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118104"/>
            <a:ext cx="566928" cy="56692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2648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WildFly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2048256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3" name="Image 5" descr="/home/user/oussema_korbosli/rapport-latex/images/logos/mav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9152" y="3309366"/>
            <a:ext cx="731520" cy="18440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093976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050" dirty="0"/>
          </a:p>
        </p:txBody>
      </p:sp>
      <p:sp>
        <p:nvSpPr>
          <p:cNvPr id="25" name="Shape 17"/>
          <p:cNvSpPr/>
          <p:nvPr/>
        </p:nvSpPr>
        <p:spPr>
          <a:xfrm>
            <a:off x="3529584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6" name="Image 6" descr="/home/user/oussema_korbosli/rapport-latex/images/logos/powerb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776" y="3118104"/>
            <a:ext cx="566928" cy="56692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3575304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5010912" y="2971800"/>
            <a:ext cx="1353312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pic>
        <p:nvPicPr>
          <p:cNvPr id="29" name="Image 7" descr="/home/user/oussema_korbosli/rapport-latex/images/logos/pyth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4104" y="3118104"/>
            <a:ext cx="566928" cy="56692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5056632" y="377647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2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31" name="Text 21"/>
          <p:cNvSpPr/>
          <p:nvPr/>
        </p:nvSpPr>
        <p:spPr>
          <a:xfrm>
            <a:off x="566928" y="448056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packagée par Maven et déployée sur WildFly ; chaîne ETL et segmentation en Python (pandas, scikit-learn).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566928" y="5230368"/>
            <a:ext cx="5669280" cy="896112"/>
          </a:xfrm>
          <a:prstGeom prst="roundRect">
            <a:avLst>
              <a:gd name="adj" fmla="val 6122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566928" y="5230368"/>
            <a:ext cx="5669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scénarios de tests fonctionnels — tous conformes</a:t>
            </a:r>
            <a:endParaRPr lang="en-US" sz="1250" dirty="0"/>
          </a:p>
        </p:txBody>
      </p:sp>
      <p:pic>
        <p:nvPicPr>
          <p:cNvPr id="34" name="Image 8" descr="/home/user/oussema_korbosli/rapport-latex/images/screens/point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1797057"/>
            <a:ext cx="5212080" cy="2623805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446520" y="4754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pointage : cartes de synthèse, pointage du jour et saisie manuelle.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05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 &amp; démonstration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 technique — segmentation par K-Means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 regrouper les agences en profils homogènes à partir de six indicateurs réels, sans étiquette préalable (apprentissage non supervisé).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9456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945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99616" y="208483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Prétraitement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99616" y="245059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sur les montants puis centrage-réduction (6 variables)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035808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321868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2186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9616" y="3108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Choix de 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99616" y="34747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Coude et silhouette → k = 3, exploitable pour le pilotage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59936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" y="424281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2428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99616" y="4133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44988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hiérarchique, GMM et DBSCAN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55778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526694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2669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99616" y="51572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retenu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99616" y="552297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: meilleure silhouette (0,604) et cohésion (95,2)</a:t>
            </a:r>
            <a:endParaRPr lang="en-US" sz="1150" dirty="0"/>
          </a:p>
        </p:txBody>
      </p:sp>
      <p:pic>
        <p:nvPicPr>
          <p:cNvPr id="28" name="Image 0" descr="/home/user/oussema_korbosli/rapport-latex/images/clustering_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216506"/>
            <a:ext cx="5212080" cy="361370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Résultats de la segmentation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41248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Agences d'exploitation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1248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880 clients · 12 employés · 7,80 MDT de crédits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différenciés, diffusion des bonnes pratiques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17720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de production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7720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aucun client · 14,61 MDT de crédits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ces financements réalisés hors guichet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554480"/>
            <a:ext cx="3502152" cy="3657600"/>
          </a:xfrm>
          <a:prstGeom prst="roundRect">
            <a:avLst>
              <a:gd name="adj" fmla="val 1567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19872" y="1554480"/>
            <a:ext cx="3502152" cy="7315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3" name="Text 21"/>
          <p:cNvSpPr/>
          <p:nvPr/>
        </p:nvSpPr>
        <p:spPr>
          <a:xfrm>
            <a:off x="8394192" y="178308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394192" y="2487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Entités sans activité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394192" y="2889504"/>
            <a:ext cx="2971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clientèle, ni comptes, ni production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394192" y="3584448"/>
            <a:ext cx="914400" cy="22860"/>
          </a:xfrm>
          <a:prstGeom prst="rect">
            <a:avLst/>
          </a:prstGeom>
          <a:solidFill>
            <a:srgbClr val="DDE3ED"/>
          </a:solidFill>
          <a:ln/>
        </p:spPr>
      </p:sp>
      <p:sp>
        <p:nvSpPr>
          <p:cNvPr id="27" name="Text 25"/>
          <p:cNvSpPr/>
          <p:nvPr/>
        </p:nvSpPr>
        <p:spPr>
          <a:xfrm>
            <a:off x="8394192" y="37490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Statuer : ouverture, rattachement ou intégration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54132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Apport décisionnel : différencier les objectifs selon le régime d'activité réel et fiabiliser le référentiel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993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Démonstration de l'application web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66928" y="2816352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309067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présenté en direct 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13232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Authentification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et contrôle des rôles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16552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6552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9584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Gestion du réseau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29584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Agences, employés, clients et objectifs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99632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32904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32904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45936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345936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Arrivée, départ et statut de présence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015984" y="36118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1D4EA0"/>
          </a:solidFill>
          <a:ln w="12700">
            <a:solidFill>
              <a:srgbClr val="1D4E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49256" y="3803904"/>
            <a:ext cx="402336" cy="402336"/>
          </a:xfrm>
          <a:prstGeom prst="ellipse">
            <a:avLst/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49256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62288" y="4297680"/>
            <a:ext cx="2176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Tableau de bord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162288" y="466344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de synthèse de l'application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rapports Power BI ont été présentés en images dans la partie précédente.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49808" y="5029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E74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C6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06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49808" y="26883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0" y="431596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89280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8928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91056" y="17465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web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591056" y="2148840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centralisée du réseau : agences, employés, clients, objectifs, rôles, pointage et circuits de validation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898648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" y="3191256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31912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91056" y="304495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Chaîne décisionnelle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591056" y="3447288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Python, datamart en étoile et quatre tableaux de bord Power BI sur les données réelles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197096"/>
            <a:ext cx="1106424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48970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0A2558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44897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91056" y="43434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artificielle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591056" y="4745736"/>
            <a:ext cx="9692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du réseau en trois profils d'agences directement exploitables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550468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0A2558"/>
          </a:solidFill>
          <a:ln w="12700">
            <a:solidFill>
              <a:srgbClr val="0A25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0468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système complet, de la donnée opérationnelle jusqu'à la décision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A255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2B58A5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4630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Perspectives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Text 7"/>
          <p:cNvSpPr/>
          <p:nvPr/>
        </p:nvSpPr>
        <p:spPr>
          <a:xfrm>
            <a:off x="88696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Sécurité renforcée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 des mots de passe et durcissement des accès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160020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0488" y="160020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3" name="Text 11"/>
          <p:cNvSpPr/>
          <p:nvPr/>
        </p:nvSpPr>
        <p:spPr>
          <a:xfrm>
            <a:off x="6510528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Industrialisation de l'ETL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10528" y="216712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Ordonnancement automatique et historisation incrémentale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Analyses prédictives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8696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 des objectifs commerciaux par agence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06324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90488" y="306324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1" name="Text 19"/>
          <p:cNvSpPr/>
          <p:nvPr/>
        </p:nvSpPr>
        <p:spPr>
          <a:xfrm>
            <a:off x="6510528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REST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510528" y="36301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Interopérabilité avec les autres systèmes de la banque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5" name="Text 23"/>
          <p:cNvSpPr/>
          <p:nvPr/>
        </p:nvSpPr>
        <p:spPr>
          <a:xfrm>
            <a:off x="88696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mobile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8696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 des indicateurs en mobilité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90488" y="4526280"/>
            <a:ext cx="5257800" cy="1225296"/>
          </a:xfrm>
          <a:prstGeom prst="roundRect">
            <a:avLst>
              <a:gd name="adj" fmla="val 4478"/>
            </a:avLst>
          </a:prstGeom>
          <a:solidFill>
            <a:srgbClr val="FFFFFF"/>
          </a:solidFill>
          <a:ln w="12700">
            <a:solidFill>
              <a:srgbClr val="DDE3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90488" y="4526280"/>
            <a:ext cx="73152" cy="1225296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29" name="Text 27"/>
          <p:cNvSpPr/>
          <p:nvPr/>
        </p:nvSpPr>
        <p:spPr>
          <a:xfrm>
            <a:off x="6510528" y="47091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255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Alertes automatiques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10528" y="50932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des agences sous les seuils critiques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255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5566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agences BTK — PFE Oussema Korbosli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40135" y="64556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64692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5" name="Shape 3"/>
          <p:cNvSpPr/>
          <p:nvPr/>
        </p:nvSpPr>
        <p:spPr>
          <a:xfrm>
            <a:off x="10030968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6" name="Shape 4"/>
          <p:cNvSpPr/>
          <p:nvPr/>
        </p:nvSpPr>
        <p:spPr>
          <a:xfrm>
            <a:off x="10415016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7" name="Shape 5"/>
          <p:cNvSpPr/>
          <p:nvPr/>
        </p:nvSpPr>
        <p:spPr>
          <a:xfrm>
            <a:off x="10799064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8" name="Shape 6"/>
          <p:cNvSpPr/>
          <p:nvPr/>
        </p:nvSpPr>
        <p:spPr>
          <a:xfrm>
            <a:off x="11183112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9" name="Shape 7"/>
          <p:cNvSpPr/>
          <p:nvPr/>
        </p:nvSpPr>
        <p:spPr>
          <a:xfrm>
            <a:off x="11567160" y="0"/>
            <a:ext cx="13716" cy="6858000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5176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POUR VOTRE ATTENTION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234440" cy="27432"/>
          </a:xfrm>
          <a:prstGeom prst="rect">
            <a:avLst/>
          </a:prstGeom>
          <a:solidFill>
            <a:srgbClr val="3C6FC3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700" dirty="0"/>
          </a:p>
        </p:txBody>
      </p:sp>
      <p:pic>
        <p:nvPicPr>
          <p:cNvPr id="13" name="Image 0" descr="/home/user/oussema_korbosli/rapport-latex/images/logo_es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029200"/>
            <a:ext cx="1417320" cy="859536"/>
          </a:xfrm>
          <a:prstGeom prst="rect">
            <a:avLst/>
          </a:prstGeom>
        </p:spPr>
      </p:pic>
      <p:pic>
        <p:nvPicPr>
          <p:cNvPr id="14" name="Image 1" descr="/home/user/oussema_korbosli/rapport-latex/images/logo_bt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5029200"/>
            <a:ext cx="777240" cy="813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PFE — Gestion des agences BTK</dc:title>
  <dc:subject>PptxGenJS Presentation</dc:subject>
  <dc:creator>Oussema Korbosli</dc:creator>
  <cp:lastModifiedBy>Oussema Korbosli</cp:lastModifiedBy>
  <cp:revision>1</cp:revision>
  <dcterms:created xsi:type="dcterms:W3CDTF">2026-08-31T16:01:57Z</dcterms:created>
  <dcterms:modified xsi:type="dcterms:W3CDTF">2026-08-31T16:01:57Z</dcterms:modified>
</cp:coreProperties>
</file>