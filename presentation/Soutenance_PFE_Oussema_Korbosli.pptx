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</p:sldIdLst>
  <p:notesMasterIdLst>
    <p:notesMasterId r:id="rId3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notesMaster" Target="notesMasters/notesMaster1.xml"/><Relationship Id="rId39" Type="http://schemas.openxmlformats.org/officeDocument/2006/relationships/presProps" Target="presProps.xml"/><Relationship Id="rId40" Type="http://schemas.openxmlformats.org/officeDocument/2006/relationships/viewProps" Target="viewProps.xml"/><Relationship Id="rId41" Type="http://schemas.openxmlformats.org/officeDocument/2006/relationships/theme" Target="theme/theme1.xml"/><Relationship Id="rId4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image" Target="../media/image-28-4.png"/><Relationship Id="rId5" Type="http://schemas.openxmlformats.org/officeDocument/2006/relationships/image" Target="../media/image-28-5.png"/><Relationship Id="rId6" Type="http://schemas.openxmlformats.org/officeDocument/2006/relationships/image" Target="../media/image-28-6.png"/><Relationship Id="rId7" Type="http://schemas.openxmlformats.org/officeDocument/2006/relationships/image" Target="../media/image-28-7.png"/><Relationship Id="rId8" Type="http://schemas.openxmlformats.org/officeDocument/2006/relationships/image" Target="../media/image-28-8.png"/><Relationship Id="rId9" Type="http://schemas.openxmlformats.org/officeDocument/2006/relationships/image" Target="../media/image-28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25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9646920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5" name="Shape 3"/>
          <p:cNvSpPr/>
          <p:nvPr/>
        </p:nvSpPr>
        <p:spPr>
          <a:xfrm>
            <a:off x="10030968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6" name="Shape 4"/>
          <p:cNvSpPr/>
          <p:nvPr/>
        </p:nvSpPr>
        <p:spPr>
          <a:xfrm>
            <a:off x="10415016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7" name="Shape 5"/>
          <p:cNvSpPr/>
          <p:nvPr/>
        </p:nvSpPr>
        <p:spPr>
          <a:xfrm>
            <a:off x="10799064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8" name="Shape 6"/>
          <p:cNvSpPr/>
          <p:nvPr/>
        </p:nvSpPr>
        <p:spPr>
          <a:xfrm>
            <a:off x="11183112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Shape 7"/>
          <p:cNvSpPr/>
          <p:nvPr/>
        </p:nvSpPr>
        <p:spPr>
          <a:xfrm>
            <a:off x="11567160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pic>
        <p:nvPicPr>
          <p:cNvPr id="10" name="Image 0" descr="/home/user/oussema_korbosli/rapport-latex/images/logo_es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384048"/>
            <a:ext cx="1572768" cy="950976"/>
          </a:xfrm>
          <a:prstGeom prst="rect">
            <a:avLst/>
          </a:prstGeom>
        </p:spPr>
      </p:pic>
      <p:pic>
        <p:nvPicPr>
          <p:cNvPr id="11" name="Image 1" descr="/home/user/oussema_korbosli/rapport-latex/images/logo_bt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384048"/>
            <a:ext cx="658368" cy="68580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66928" y="1783080"/>
            <a:ext cx="8595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 DE FIN D'ÉTUDES</a:t>
            </a:r>
            <a:endParaRPr lang="en-US" sz="1150" dirty="0"/>
          </a:p>
        </p:txBody>
      </p:sp>
      <p:sp>
        <p:nvSpPr>
          <p:cNvPr id="13" name="Text 9"/>
          <p:cNvSpPr/>
          <p:nvPr/>
        </p:nvSpPr>
        <p:spPr>
          <a:xfrm>
            <a:off x="566928" y="2194560"/>
            <a:ext cx="8778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Système intelligent de gestion des rôles et</a:t>
            </a:r>
            <a:endParaRPr lang="en-US" sz="2800" dirty="0"/>
          </a:p>
          <a:p>
            <a:pPr indent="0" marL="0">
              <a:lnSpc>
                <a:spcPts val="38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 pointage avec tableau de bord décisionnel</a:t>
            </a:r>
            <a:endParaRPr lang="en-US" sz="2800" dirty="0"/>
          </a:p>
        </p:txBody>
      </p:sp>
      <p:sp>
        <p:nvSpPr>
          <p:cNvPr id="14" name="Text 10"/>
          <p:cNvSpPr/>
          <p:nvPr/>
        </p:nvSpPr>
        <p:spPr>
          <a:xfrm>
            <a:off x="566928" y="3657600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9FB6D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Business Intelligence</a:t>
            </a:r>
            <a:endParaRPr lang="en-US" sz="1900" dirty="0"/>
          </a:p>
        </p:txBody>
      </p:sp>
      <p:sp>
        <p:nvSpPr>
          <p:cNvPr id="15" name="Shape 11"/>
          <p:cNvSpPr/>
          <p:nvPr/>
        </p:nvSpPr>
        <p:spPr>
          <a:xfrm>
            <a:off x="566928" y="4169664"/>
            <a:ext cx="1234440" cy="2743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6" name="Text 12"/>
          <p:cNvSpPr/>
          <p:nvPr/>
        </p:nvSpPr>
        <p:spPr>
          <a:xfrm>
            <a:off x="566928" y="4443984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Présenté par : Oussema Korbosli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566928" y="4956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5D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Maître de stage : </a:t>
            </a:r>
            <a:pPr indent="0" marL="0">
              <a:buNone/>
            </a:pPr>
            <a:r>
              <a:rPr lang="en-US" sz="1250" dirty="0">
                <a:solidFill>
                  <a:srgbClr val="D5D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M. Melek Aziz Elmoula</a:t>
            </a:r>
            <a:endParaRPr lang="en-US" sz="1250" dirty="0"/>
          </a:p>
        </p:txBody>
      </p:sp>
      <p:sp>
        <p:nvSpPr>
          <p:cNvPr id="18" name="Text 14"/>
          <p:cNvSpPr/>
          <p:nvPr/>
        </p:nvSpPr>
        <p:spPr>
          <a:xfrm>
            <a:off x="566928" y="5257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5D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Encadrant académique : </a:t>
            </a:r>
            <a:pPr indent="0" marL="0">
              <a:buNone/>
            </a:pPr>
            <a:r>
              <a:rPr lang="en-US" sz="1250" dirty="0">
                <a:solidFill>
                  <a:srgbClr val="D5D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M. Heni Abidi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566928" y="5815584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BTK – Banque Tuniso-Koweïtienne   ·   Année universitaire 2025/2026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310128" cy="6858000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83464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PLAN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3977640" y="1051560"/>
            <a:ext cx="1097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3977640" y="1728216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Contexte général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3977640" y="2788920"/>
            <a:ext cx="1097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3977640" y="3465576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Spécifications des besoins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3977640" y="4526280"/>
            <a:ext cx="1097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3977640" y="5202936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Conception &amp; architecture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8092440" y="1051560"/>
            <a:ext cx="1097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8092440" y="1728216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Volet décisionnel &amp; réalisation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8092440" y="2788920"/>
            <a:ext cx="1097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8092440" y="3465576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Intelligence artificielle &amp; démonstration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8092440" y="4526280"/>
            <a:ext cx="1097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8092440" y="5202936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 &amp; perspectives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25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49808" y="50292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795528" y="233172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01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749808" y="2688336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Contexte général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0" y="431596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Contexte général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463040"/>
            <a:ext cx="11064240" cy="1481328"/>
          </a:xfrm>
          <a:prstGeom prst="roundRect">
            <a:avLst>
              <a:gd name="adj" fmla="val 3704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24128" y="1463040"/>
            <a:ext cx="1014984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8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 Une donnée dispersée ne décide rien : c'est en la consolidant</a:t>
            </a:r>
            <a:endParaRPr lang="en-US" sz="18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8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qu'elle devient un instrument de pilotage. »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66928" y="334670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41248" y="3200400"/>
            <a:ext cx="10789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réseau de 45 agences réparties sur tout le territoire tunisien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66928" y="3858768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41248" y="3712464"/>
            <a:ext cx="10789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données d'activité éclatées entre plusieurs fichiers et applications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4370832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41248" y="4224528"/>
            <a:ext cx="10789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besoin de piloter la performance commerciale et l'assiduité des équipes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66928" y="4882896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1248" y="4736592"/>
            <a:ext cx="10789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direction qui doit décider vite, sur des indicateurs fiables et à jour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66928" y="5349240"/>
            <a:ext cx="11064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86968" y="534924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Objectif du projet : centraliser la gestion du réseau et transformer les données opérationnelles en indicateurs d'aide à la décision.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Présentation de l'organisme d'accueil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481328"/>
            <a:ext cx="5532120" cy="4526280"/>
          </a:xfrm>
          <a:prstGeom prst="roundRect">
            <a:avLst>
              <a:gd name="adj" fmla="val 12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pic>
        <p:nvPicPr>
          <p:cNvPr id="8" name="Image 0" descr="/home/user/oussema_korbosli/rapport-latex/images/logo_bt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3643" y="1737360"/>
            <a:ext cx="963930" cy="100584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932688" y="2852928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BTK – Banque Tuniso-Koweïtienne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932688" y="3456432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207008" y="3310128"/>
            <a:ext cx="4526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Banque universelle de droit tunisien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932688" y="3913632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207008" y="3767328"/>
            <a:ext cx="4526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Créée le 25 février 1981 (coopération Tunisie – Koweït)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932688" y="4370832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207008" y="4224528"/>
            <a:ext cx="4526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social de 200 millions de dinars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932688" y="4828032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207008" y="4681728"/>
            <a:ext cx="4526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Siège social à Tunis, réseau national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6446520" y="1536192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EFFECTUÉ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6446520" y="1847088"/>
            <a:ext cx="52120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446520" y="1847088"/>
            <a:ext cx="73152" cy="9144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1" name="Text 18"/>
          <p:cNvSpPr/>
          <p:nvPr/>
        </p:nvSpPr>
        <p:spPr>
          <a:xfrm>
            <a:off x="6720840" y="1938528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Département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6720840" y="226771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6446520" y="2907792"/>
            <a:ext cx="52120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446520" y="2907792"/>
            <a:ext cx="73152" cy="9144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5" name="Text 22"/>
          <p:cNvSpPr/>
          <p:nvPr/>
        </p:nvSpPr>
        <p:spPr>
          <a:xfrm>
            <a:off x="6720840" y="2999232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Période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6720840" y="3328416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 février → 16 juin 2026</a:t>
            </a:r>
            <a:endParaRPr lang="en-US" sz="1450" dirty="0"/>
          </a:p>
        </p:txBody>
      </p:sp>
      <p:sp>
        <p:nvSpPr>
          <p:cNvPr id="27" name="Shape 24"/>
          <p:cNvSpPr/>
          <p:nvPr/>
        </p:nvSpPr>
        <p:spPr>
          <a:xfrm>
            <a:off x="6446520" y="3968496"/>
            <a:ext cx="52120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6446520" y="3968496"/>
            <a:ext cx="73152" cy="9144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9" name="Text 26"/>
          <p:cNvSpPr/>
          <p:nvPr/>
        </p:nvSpPr>
        <p:spPr>
          <a:xfrm>
            <a:off x="6720840" y="4059936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Durée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6720840" y="43891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 mois</a:t>
            </a:r>
            <a:endParaRPr lang="en-US" sz="1450" dirty="0"/>
          </a:p>
        </p:txBody>
      </p:sp>
      <p:sp>
        <p:nvSpPr>
          <p:cNvPr id="31" name="Shape 28"/>
          <p:cNvSpPr/>
          <p:nvPr/>
        </p:nvSpPr>
        <p:spPr>
          <a:xfrm>
            <a:off x="6446520" y="5029200"/>
            <a:ext cx="52120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6446520" y="5029200"/>
            <a:ext cx="73152" cy="9144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33" name="Text 30"/>
          <p:cNvSpPr/>
          <p:nvPr/>
        </p:nvSpPr>
        <p:spPr>
          <a:xfrm>
            <a:off x="6720840" y="5120640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Encadrement</a:t>
            </a:r>
            <a:endParaRPr lang="en-US" sz="1100" dirty="0"/>
          </a:p>
        </p:txBody>
      </p:sp>
      <p:sp>
        <p:nvSpPr>
          <p:cNvPr id="34" name="Text 31"/>
          <p:cNvSpPr/>
          <p:nvPr/>
        </p:nvSpPr>
        <p:spPr>
          <a:xfrm>
            <a:off x="6720840" y="5449824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M. Melek Aziz Elmoula</a:t>
            </a:r>
            <a:endParaRPr lang="en-US" sz="14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 réseau BTK en chiffres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600200"/>
            <a:ext cx="2615184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600200"/>
            <a:ext cx="2615184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Text 7"/>
          <p:cNvSpPr/>
          <p:nvPr/>
        </p:nvSpPr>
        <p:spPr>
          <a:xfrm>
            <a:off x="658368" y="1856232"/>
            <a:ext cx="2432304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45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658368" y="2592324"/>
            <a:ext cx="2432304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agences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383280" y="1600200"/>
            <a:ext cx="2615184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383280" y="1600200"/>
            <a:ext cx="2615184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3" name="Text 11"/>
          <p:cNvSpPr/>
          <p:nvPr/>
        </p:nvSpPr>
        <p:spPr>
          <a:xfrm>
            <a:off x="3474720" y="1856232"/>
            <a:ext cx="2432304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997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3474720" y="2592324"/>
            <a:ext cx="2432304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employés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199632" y="1600200"/>
            <a:ext cx="2615184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199632" y="1600200"/>
            <a:ext cx="2615184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7" name="Text 15"/>
          <p:cNvSpPr/>
          <p:nvPr/>
        </p:nvSpPr>
        <p:spPr>
          <a:xfrm>
            <a:off x="6291072" y="1856232"/>
            <a:ext cx="2432304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29 942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6291072" y="2592324"/>
            <a:ext cx="2432304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clients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9015984" y="1600200"/>
            <a:ext cx="2615184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015984" y="1600200"/>
            <a:ext cx="2615184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1" name="Text 19"/>
          <p:cNvSpPr/>
          <p:nvPr/>
        </p:nvSpPr>
        <p:spPr>
          <a:xfrm>
            <a:off x="9107424" y="1856232"/>
            <a:ext cx="2432304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24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9107424" y="2592324"/>
            <a:ext cx="2432304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gouvernorats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66928" y="3520440"/>
            <a:ext cx="2615184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6928" y="3520440"/>
            <a:ext cx="2615184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3776472"/>
            <a:ext cx="2432304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105 K</a:t>
            </a:r>
            <a:endParaRPr lang="en-US" sz="2600" dirty="0"/>
          </a:p>
        </p:txBody>
      </p:sp>
      <p:sp>
        <p:nvSpPr>
          <p:cNvPr id="26" name="Text 24"/>
          <p:cNvSpPr/>
          <p:nvPr/>
        </p:nvSpPr>
        <p:spPr>
          <a:xfrm>
            <a:off x="658368" y="4512564"/>
            <a:ext cx="2432304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comptes ouverts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3383280" y="3520440"/>
            <a:ext cx="2615184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383280" y="3520440"/>
            <a:ext cx="2615184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9" name="Text 27"/>
          <p:cNvSpPr/>
          <p:nvPr/>
        </p:nvSpPr>
        <p:spPr>
          <a:xfrm>
            <a:off x="3474720" y="3776472"/>
            <a:ext cx="2432304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1,40 Md</a:t>
            </a:r>
            <a:endParaRPr lang="en-US" sz="2600" dirty="0"/>
          </a:p>
        </p:txBody>
      </p:sp>
      <p:sp>
        <p:nvSpPr>
          <p:cNvPr id="30" name="Text 28"/>
          <p:cNvSpPr/>
          <p:nvPr/>
        </p:nvSpPr>
        <p:spPr>
          <a:xfrm>
            <a:off x="3474720" y="4512564"/>
            <a:ext cx="2432304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de crédits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6199632" y="3520440"/>
            <a:ext cx="2615184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199632" y="3520440"/>
            <a:ext cx="2615184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33" name="Text 31"/>
          <p:cNvSpPr/>
          <p:nvPr/>
        </p:nvSpPr>
        <p:spPr>
          <a:xfrm>
            <a:off x="6291072" y="3776472"/>
            <a:ext cx="2432304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253 M</a:t>
            </a:r>
            <a:endParaRPr lang="en-US" sz="2600" dirty="0"/>
          </a:p>
        </p:txBody>
      </p:sp>
      <p:sp>
        <p:nvSpPr>
          <p:cNvPr id="34" name="Text 32"/>
          <p:cNvSpPr/>
          <p:nvPr/>
        </p:nvSpPr>
        <p:spPr>
          <a:xfrm>
            <a:off x="6291072" y="4512564"/>
            <a:ext cx="2432304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collecte d'épargne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9015984" y="3520440"/>
            <a:ext cx="2615184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015984" y="3520440"/>
            <a:ext cx="2615184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37" name="Text 35"/>
          <p:cNvSpPr/>
          <p:nvPr/>
        </p:nvSpPr>
        <p:spPr>
          <a:xfrm>
            <a:off x="9107424" y="3776472"/>
            <a:ext cx="2432304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87,9 %</a:t>
            </a:r>
            <a:endParaRPr lang="en-US" sz="2600" dirty="0"/>
          </a:p>
        </p:txBody>
      </p:sp>
      <p:sp>
        <p:nvSpPr>
          <p:cNvPr id="38" name="Text 36"/>
          <p:cNvSpPr/>
          <p:nvPr/>
        </p:nvSpPr>
        <p:spPr>
          <a:xfrm>
            <a:off x="9107424" y="4512564"/>
            <a:ext cx="2432304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taux de présence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566928" y="5413248"/>
            <a:ext cx="11064240" cy="731520"/>
          </a:xfrm>
          <a:prstGeom prst="roundRect">
            <a:avLst>
              <a:gd name="adj" fmla="val 7500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66928" y="541324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Chiffres issus du datamart réel produit par la chaîne ETL du projet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Problématiques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572768"/>
            <a:ext cx="1106424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810512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1810512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1572768" y="1572768"/>
            <a:ext cx="9784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données d'activité dispersées, saisies et consolidées manuellement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566928" y="2743200"/>
            <a:ext cx="1106424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2980944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" y="2980944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1572768" y="2743200"/>
            <a:ext cx="9784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suivi de la présence des employés sans traçabilité fiable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566928" y="3913632"/>
            <a:ext cx="1106424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" y="4151376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17" name="Text 15"/>
          <p:cNvSpPr/>
          <p:nvPr/>
        </p:nvSpPr>
        <p:spPr>
          <a:xfrm>
            <a:off x="822960" y="4151376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1572768" y="3913632"/>
            <a:ext cx="9784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Aucune vision consolidée de la performance du réseau d'agences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566928" y="5084064"/>
            <a:ext cx="1106424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2960" y="5321808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21" name="Text 19"/>
          <p:cNvSpPr/>
          <p:nvPr/>
        </p:nvSpPr>
        <p:spPr>
          <a:xfrm>
            <a:off x="822960" y="532180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900" dirty="0"/>
          </a:p>
        </p:txBody>
      </p:sp>
      <p:sp>
        <p:nvSpPr>
          <p:cNvPr id="22" name="Text 20"/>
          <p:cNvSpPr/>
          <p:nvPr/>
        </p:nvSpPr>
        <p:spPr>
          <a:xfrm>
            <a:off x="1572768" y="5084064"/>
            <a:ext cx="9784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indicateurs de pilotage indisponibles au moment de décider</a:t>
            </a:r>
            <a:endParaRPr lang="en-US" sz="14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Étude de l'existant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66928" y="153619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SOLUTIONS ENVISAGÉES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66928" y="1874520"/>
            <a:ext cx="5029200" cy="969264"/>
          </a:xfrm>
          <a:prstGeom prst="roundRect">
            <a:avLst>
              <a:gd name="adj" fmla="val 566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1248" y="1984248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Tableurs Excel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841248" y="2350008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manuelle des données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3008376"/>
            <a:ext cx="5029200" cy="969264"/>
          </a:xfrm>
          <a:prstGeom prst="roundRect">
            <a:avLst>
              <a:gd name="adj" fmla="val 566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41248" y="3118104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Progiciel du marché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841248" y="3483864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intégrée sur étagère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4142232"/>
            <a:ext cx="5029200" cy="969264"/>
          </a:xfrm>
          <a:prstGeom prst="roundRect">
            <a:avLst>
              <a:gd name="adj" fmla="val 5660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1248" y="4251960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Développement sur mesure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841248" y="4617720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adaptée au métier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5806440" y="3017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6537960" y="153619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LIMITES CONSTATÉES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537960" y="1874520"/>
            <a:ext cx="5120640" cy="3145536"/>
          </a:xfrm>
          <a:prstGeom prst="roundRect">
            <a:avLst>
              <a:gd name="adj" fmla="val 1744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766560" y="224942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040880" y="2103120"/>
            <a:ext cx="4434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Risque d'erreurs et de doublons de saisie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766560" y="270662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040880" y="2560320"/>
            <a:ext cx="4434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 de gestion des rôles ni des droits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766560" y="316382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040880" y="3017520"/>
            <a:ext cx="4434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Aucune traçabilité des opérations sensibles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766560" y="362102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040880" y="3474720"/>
            <a:ext cx="4434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Coût élevé des progiciels du marché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6766560" y="407822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040880" y="3931920"/>
            <a:ext cx="4434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Restitution des indicateurs impossible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566928" y="5285232"/>
            <a:ext cx="11064240" cy="749808"/>
          </a:xfrm>
          <a:prstGeom prst="roundRect">
            <a:avLst>
              <a:gd name="adj" fmla="val 7317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66928" y="5285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Choix retenu : une solution développée sur mesure, alignée sur les processus réels de la BTK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Solution proposée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554480"/>
            <a:ext cx="3502152" cy="4114800"/>
          </a:xfrm>
          <a:prstGeom prst="roundRect">
            <a:avLst>
              <a:gd name="adj" fmla="val 15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554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Shape 7"/>
          <p:cNvSpPr/>
          <p:nvPr/>
        </p:nvSpPr>
        <p:spPr>
          <a:xfrm>
            <a:off x="841248" y="1847088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0A2558"/>
          </a:solidFill>
          <a:ln/>
        </p:spPr>
      </p:sp>
      <p:sp>
        <p:nvSpPr>
          <p:cNvPr id="10" name="Text 8"/>
          <p:cNvSpPr/>
          <p:nvPr/>
        </p:nvSpPr>
        <p:spPr>
          <a:xfrm>
            <a:off x="841248" y="184708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841248" y="2542032"/>
            <a:ext cx="2971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Application web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841248" y="3255264"/>
            <a:ext cx="29718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centralisée des agences, employés, clients et objectifs · rôles et droits · pointage · circuits de validation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41248" y="5120640"/>
            <a:ext cx="2971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Jakarta EE · Oracle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343400" y="1554480"/>
            <a:ext cx="3502152" cy="4114800"/>
          </a:xfrm>
          <a:prstGeom prst="roundRect">
            <a:avLst>
              <a:gd name="adj" fmla="val 15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43400" y="1554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6" name="Shape 14"/>
          <p:cNvSpPr/>
          <p:nvPr/>
        </p:nvSpPr>
        <p:spPr>
          <a:xfrm>
            <a:off x="4617720" y="1847088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0A2558"/>
          </a:solidFill>
          <a:ln/>
        </p:spPr>
      </p:sp>
      <p:sp>
        <p:nvSpPr>
          <p:cNvPr id="17" name="Text 15"/>
          <p:cNvSpPr/>
          <p:nvPr/>
        </p:nvSpPr>
        <p:spPr>
          <a:xfrm>
            <a:off x="4617720" y="184708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4617720" y="2542032"/>
            <a:ext cx="2971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Chaîne décisionnelle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4617720" y="3255264"/>
            <a:ext cx="29718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Processus ETL consolidant les données dans un datamart en étoile, restitué par des tableaux de bord Power BI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4617720" y="5120640"/>
            <a:ext cx="2971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· Power BI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8119872" y="1554480"/>
            <a:ext cx="3502152" cy="4114800"/>
          </a:xfrm>
          <a:prstGeom prst="roundRect">
            <a:avLst>
              <a:gd name="adj" fmla="val 15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119872" y="1554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3" name="Shape 21"/>
          <p:cNvSpPr/>
          <p:nvPr/>
        </p:nvSpPr>
        <p:spPr>
          <a:xfrm>
            <a:off x="8394192" y="1847088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0A2558"/>
          </a:solidFill>
          <a:ln/>
        </p:spPr>
      </p:sp>
      <p:sp>
        <p:nvSpPr>
          <p:cNvPr id="24" name="Text 22"/>
          <p:cNvSpPr/>
          <p:nvPr/>
        </p:nvSpPr>
        <p:spPr>
          <a:xfrm>
            <a:off x="8394192" y="184708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900" dirty="0"/>
          </a:p>
        </p:txBody>
      </p:sp>
      <p:sp>
        <p:nvSpPr>
          <p:cNvPr id="25" name="Text 23"/>
          <p:cNvSpPr/>
          <p:nvPr/>
        </p:nvSpPr>
        <p:spPr>
          <a:xfrm>
            <a:off x="8394192" y="2542032"/>
            <a:ext cx="2971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Intelligence artificielle</a:t>
            </a:r>
            <a:endParaRPr lang="en-US" sz="1650" dirty="0"/>
          </a:p>
        </p:txBody>
      </p:sp>
      <p:sp>
        <p:nvSpPr>
          <p:cNvPr id="26" name="Text 24"/>
          <p:cNvSpPr/>
          <p:nvPr/>
        </p:nvSpPr>
        <p:spPr>
          <a:xfrm>
            <a:off x="8394192" y="3255264"/>
            <a:ext cx="29718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Segmentation automatique des agences en profils homogènes pour un pilotage différencié du réseau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8394192" y="5120640"/>
            <a:ext cx="2971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scikit-learn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66928" y="5870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seule solution, de la saisie opérationnelle jusqu'à l'aide à la décision.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Méthodologie adoptée : CRISP-DM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66928" y="1298448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 centré sur les données : Scrum structure la production logicielle, mais ne couvre pas les étapes d'analyse et de valorisation des données.</a:t>
            </a:r>
            <a:endParaRPr lang="en-US" sz="1300" dirty="0"/>
          </a:p>
        </p:txBody>
      </p:sp>
      <p:pic>
        <p:nvPicPr>
          <p:cNvPr id="8" name="Image 0" descr="/home/user/oussema_korbosli/rapport-latex/images/crispd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8073" y="1783080"/>
            <a:ext cx="5301310" cy="434340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720840" y="182880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POURQUOI CRISP-DM ?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6720840" y="2286000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995160" y="2139696"/>
            <a:ext cx="4663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Méthodologie de référence des projets décisionnels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720840" y="2743200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995160" y="2596896"/>
            <a:ext cx="4663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 six phases épousent le déroulement réel du projet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720840" y="3200400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995160" y="3054096"/>
            <a:ext cx="4663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Pratiques agiles conservées : itérations et validations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6720840" y="3657600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995160" y="3511296"/>
            <a:ext cx="4663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Scrum ne couvre pas l'analyse et la valorisation des données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6720840" y="4224528"/>
            <a:ext cx="4937760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720840" y="4224528"/>
            <a:ext cx="4937760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0" name="Text 17"/>
          <p:cNvSpPr/>
          <p:nvPr/>
        </p:nvSpPr>
        <p:spPr>
          <a:xfrm>
            <a:off x="6967728" y="4407408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Correspondance avec le rapport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967728" y="4791456"/>
            <a:ext cx="4480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Phases 1–2  →  Chapitres 1 et 2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 →  Chapitre 3 et chaîne ETL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Phases 4–5  →  Chapitre 4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6  →  Chapitre 5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25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49808" y="50292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795528" y="233172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02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749808" y="2688336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Spécifications des besoins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0" y="431596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Identification des acteurs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554480"/>
            <a:ext cx="3502152" cy="3977640"/>
          </a:xfrm>
          <a:prstGeom prst="roundRect">
            <a:avLst>
              <a:gd name="adj" fmla="val 15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554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Shape 7"/>
          <p:cNvSpPr/>
          <p:nvPr/>
        </p:nvSpPr>
        <p:spPr>
          <a:xfrm>
            <a:off x="1901952" y="1874520"/>
            <a:ext cx="822960" cy="822960"/>
          </a:xfrm>
          <a:prstGeom prst="ellipse">
            <a:avLst/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901952" y="18745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768096" y="28346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Administrateur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768096" y="3218688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C6FC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ADMIN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841248" y="3611880"/>
            <a:ext cx="2971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Gère les agences, les employés et les clients · valide les demandes · consulte le journal d'audit · supervise le volet décisionnel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343400" y="1554480"/>
            <a:ext cx="3502152" cy="3977640"/>
          </a:xfrm>
          <a:prstGeom prst="roundRect">
            <a:avLst>
              <a:gd name="adj" fmla="val 15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43400" y="1554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6" name="Shape 14"/>
          <p:cNvSpPr/>
          <p:nvPr/>
        </p:nvSpPr>
        <p:spPr>
          <a:xfrm>
            <a:off x="5678424" y="1874520"/>
            <a:ext cx="822960" cy="822960"/>
          </a:xfrm>
          <a:prstGeom prst="ellipse">
            <a:avLst/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78424" y="18745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4544568" y="28346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Directeur commercial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4544568" y="3218688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C6FC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DIRECTEUR_COMMERCIAL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617720" y="3611880"/>
            <a:ext cx="2971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Soumet les demandes de création · valide les modifications des employés · consulte les objectifs et les indicateurs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119872" y="1554480"/>
            <a:ext cx="3502152" cy="3977640"/>
          </a:xfrm>
          <a:prstGeom prst="roundRect">
            <a:avLst>
              <a:gd name="adj" fmla="val 15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119872" y="1554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3" name="Shape 21"/>
          <p:cNvSpPr/>
          <p:nvPr/>
        </p:nvSpPr>
        <p:spPr>
          <a:xfrm>
            <a:off x="9454896" y="1874520"/>
            <a:ext cx="822960" cy="822960"/>
          </a:xfrm>
          <a:prstGeom prst="ellipse">
            <a:avLst/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454896" y="18745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8321040" y="28346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Utilisateur</a:t>
            </a:r>
            <a:endParaRPr lang="en-US" sz="1550" dirty="0"/>
          </a:p>
        </p:txBody>
      </p:sp>
      <p:sp>
        <p:nvSpPr>
          <p:cNvPr id="26" name="Text 24"/>
          <p:cNvSpPr/>
          <p:nvPr/>
        </p:nvSpPr>
        <p:spPr>
          <a:xfrm>
            <a:off x="8321040" y="3218688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C6FC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394192" y="3611880"/>
            <a:ext cx="2971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Consulte les données autorisées · effectue son pointage · soumet les demandes le concernant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66928" y="57150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rôles sont gérés par le module de sécurité (table SECURITY_USERS) et conditionnent l'accès à chaque fonctionnalité.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Besoins fonctionnels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572768"/>
            <a:ext cx="525780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04672" y="1901952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0A2558"/>
          </a:solidFill>
          <a:ln/>
        </p:spPr>
      </p:sp>
      <p:sp>
        <p:nvSpPr>
          <p:cNvPr id="9" name="Text 7"/>
          <p:cNvSpPr/>
          <p:nvPr/>
        </p:nvSpPr>
        <p:spPr>
          <a:xfrm>
            <a:off x="804672" y="190195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527048" y="1792224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Authentification &amp; rôles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1527048" y="2176272"/>
            <a:ext cx="4114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Connexion sécurisée, gestion des droits d'accès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190488" y="1572768"/>
            <a:ext cx="525780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28232" y="1901952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0A2558"/>
          </a:solidFill>
          <a:ln/>
        </p:spPr>
      </p:sp>
      <p:sp>
        <p:nvSpPr>
          <p:cNvPr id="14" name="Text 12"/>
          <p:cNvSpPr/>
          <p:nvPr/>
        </p:nvSpPr>
        <p:spPr>
          <a:xfrm>
            <a:off x="6428232" y="190195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7150608" y="1792224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Gestion du référentiel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7150608" y="2176272"/>
            <a:ext cx="4114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 des agences, des employés et des clients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66928" y="3054096"/>
            <a:ext cx="525780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04672" y="3383280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0A2558"/>
          </a:solidFill>
          <a:ln/>
        </p:spPr>
      </p:sp>
      <p:sp>
        <p:nvSpPr>
          <p:cNvPr id="19" name="Text 17"/>
          <p:cNvSpPr/>
          <p:nvPr/>
        </p:nvSpPr>
        <p:spPr>
          <a:xfrm>
            <a:off x="804672" y="3383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1527048" y="327355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Objectifs commerciaux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1527048" y="3657600"/>
            <a:ext cx="4114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Suivi de la production par agence et par période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190488" y="3054096"/>
            <a:ext cx="525780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428232" y="3383280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0A2558"/>
          </a:solidFill>
          <a:ln/>
        </p:spPr>
      </p:sp>
      <p:sp>
        <p:nvSpPr>
          <p:cNvPr id="24" name="Text 22"/>
          <p:cNvSpPr/>
          <p:nvPr/>
        </p:nvSpPr>
        <p:spPr>
          <a:xfrm>
            <a:off x="6428232" y="3383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7150608" y="327355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Pointage des employés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7150608" y="3657600"/>
            <a:ext cx="4114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Arrivée / départ, statut présent · retard · absent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66928" y="4535424"/>
            <a:ext cx="525780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04672" y="4864608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0A2558"/>
          </a:solidFill>
          <a:ln/>
        </p:spPr>
      </p:sp>
      <p:sp>
        <p:nvSpPr>
          <p:cNvPr id="29" name="Text 27"/>
          <p:cNvSpPr/>
          <p:nvPr/>
        </p:nvSpPr>
        <p:spPr>
          <a:xfrm>
            <a:off x="804672" y="486460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700" dirty="0"/>
          </a:p>
        </p:txBody>
      </p:sp>
      <p:sp>
        <p:nvSpPr>
          <p:cNvPr id="30" name="Text 28"/>
          <p:cNvSpPr/>
          <p:nvPr/>
        </p:nvSpPr>
        <p:spPr>
          <a:xfrm>
            <a:off x="1527048" y="475488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Circuits de validation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1527048" y="5138928"/>
            <a:ext cx="4114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Demandes soumises, validées ou refusées, journalisées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6190488" y="4535424"/>
            <a:ext cx="525780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28232" y="4864608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0A2558"/>
          </a:solidFill>
          <a:ln/>
        </p:spPr>
      </p:sp>
      <p:sp>
        <p:nvSpPr>
          <p:cNvPr id="34" name="Text 32"/>
          <p:cNvSpPr/>
          <p:nvPr/>
        </p:nvSpPr>
        <p:spPr>
          <a:xfrm>
            <a:off x="6428232" y="486460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1700" dirty="0"/>
          </a:p>
        </p:txBody>
      </p:sp>
      <p:sp>
        <p:nvSpPr>
          <p:cNvPr id="35" name="Text 33"/>
          <p:cNvSpPr/>
          <p:nvPr/>
        </p:nvSpPr>
        <p:spPr>
          <a:xfrm>
            <a:off x="7150608" y="475488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Volet décisionnel</a:t>
            </a:r>
            <a:endParaRPr lang="en-US" sz="1450" dirty="0"/>
          </a:p>
        </p:txBody>
      </p:sp>
      <p:sp>
        <p:nvSpPr>
          <p:cNvPr id="36" name="Text 34"/>
          <p:cNvSpPr/>
          <p:nvPr/>
        </p:nvSpPr>
        <p:spPr>
          <a:xfrm>
            <a:off x="7150608" y="5138928"/>
            <a:ext cx="4114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Chaîne ETL, tableaux de bord et segmentation des agences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Besoins non fonctionnels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3502152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69164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Text 7"/>
          <p:cNvSpPr/>
          <p:nvPr/>
        </p:nvSpPr>
        <p:spPr>
          <a:xfrm>
            <a:off x="841248" y="1984248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Sécurité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41248" y="2478024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Authentification, rôles et workflows de validation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343400" y="1691640"/>
            <a:ext cx="3502152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43400" y="169164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3" name="Text 11"/>
          <p:cNvSpPr/>
          <p:nvPr/>
        </p:nvSpPr>
        <p:spPr>
          <a:xfrm>
            <a:off x="4617720" y="1984248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Fiabilité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617720" y="2478024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Intégrité garantie par le SGBD et les transactions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119872" y="1691640"/>
            <a:ext cx="3502152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119872" y="169164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7" name="Text 15"/>
          <p:cNvSpPr/>
          <p:nvPr/>
        </p:nvSpPr>
        <p:spPr>
          <a:xfrm>
            <a:off x="8394192" y="1984248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Performance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394192" y="2478024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Temps de réponse adapté aux volumes manipulés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66928" y="3840480"/>
            <a:ext cx="3502152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66928" y="3840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1" name="Text 19"/>
          <p:cNvSpPr/>
          <p:nvPr/>
        </p:nvSpPr>
        <p:spPr>
          <a:xfrm>
            <a:off x="841248" y="4133088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Ergonomie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841248" y="4626864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claire, navigation par menu latéral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4343400" y="3840480"/>
            <a:ext cx="3502152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343400" y="3840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5" name="Text 23"/>
          <p:cNvSpPr/>
          <p:nvPr/>
        </p:nvSpPr>
        <p:spPr>
          <a:xfrm>
            <a:off x="4617720" y="4133088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Maintenabilité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4617720" y="4626864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en couches, code faiblement couplé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8119872" y="3840480"/>
            <a:ext cx="3502152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119872" y="3840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9" name="Text 27"/>
          <p:cNvSpPr/>
          <p:nvPr/>
        </p:nvSpPr>
        <p:spPr>
          <a:xfrm>
            <a:off x="8394192" y="4133088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Portabilité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8394192" y="4626864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Jakarta EE standard, serveur compatible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A25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49808" y="50292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795528" y="233172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03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749808" y="2688336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Conception &amp; architecture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0" y="431596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Architecture logique en couches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572768"/>
            <a:ext cx="6766560" cy="896112"/>
          </a:xfrm>
          <a:prstGeom prst="roundRect">
            <a:avLst>
              <a:gd name="adj" fmla="val 6122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572768"/>
            <a:ext cx="82296" cy="89611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Text 7"/>
          <p:cNvSpPr/>
          <p:nvPr/>
        </p:nvSpPr>
        <p:spPr>
          <a:xfrm>
            <a:off x="886968" y="1664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Présentation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86968" y="2048256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Pages JSP / JSTL et graphiques ApexCharts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66928" y="2606040"/>
            <a:ext cx="676656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" y="2606040"/>
            <a:ext cx="82296" cy="89611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3" name="Text 11"/>
          <p:cNvSpPr/>
          <p:nvPr/>
        </p:nvSpPr>
        <p:spPr>
          <a:xfrm>
            <a:off x="886968" y="26974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Contrôle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86968" y="3081528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Servlets et filtre de sécurité (NotificationFilter)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66928" y="3639312"/>
            <a:ext cx="676656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66928" y="3639312"/>
            <a:ext cx="82296" cy="89611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7" name="Text 15"/>
          <p:cNvSpPr/>
          <p:nvPr/>
        </p:nvSpPr>
        <p:spPr>
          <a:xfrm>
            <a:off x="886968" y="373075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Métier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86968" y="4114800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Services EJB encapsulant les règles de gestion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66928" y="4672584"/>
            <a:ext cx="676656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66928" y="4672584"/>
            <a:ext cx="82296" cy="89611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1" name="Text 19"/>
          <p:cNvSpPr/>
          <p:nvPr/>
        </p:nvSpPr>
        <p:spPr>
          <a:xfrm>
            <a:off x="886968" y="4764024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Persistance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886968" y="5148072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Entités JPA / Hibernate vers la base Oracle</a:t>
            </a:r>
            <a:endParaRPr lang="en-US" sz="1200" dirty="0"/>
          </a:p>
        </p:txBody>
      </p:sp>
      <p:pic>
        <p:nvPicPr>
          <p:cNvPr id="23" name="Image 0" descr="/home/user/oussema_korbosli/rapport-latex/diagrams/archi_logiq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46996" y="1572768"/>
            <a:ext cx="3599848" cy="4023360"/>
          </a:xfrm>
          <a:prstGeom prst="rect">
            <a:avLst/>
          </a:prstGeom>
        </p:spPr>
      </p:pic>
      <p:sp>
        <p:nvSpPr>
          <p:cNvPr id="24" name="Text 21"/>
          <p:cNvSpPr/>
          <p:nvPr/>
        </p:nvSpPr>
        <p:spPr>
          <a:xfrm>
            <a:off x="566928" y="5870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Patron MVC : chaque couche est indépendante et faiblement couplée aux autres.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Architecture physique (3-tiers)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920240"/>
            <a:ext cx="2468880" cy="2011680"/>
          </a:xfrm>
          <a:prstGeom prst="roundRect">
            <a:avLst>
              <a:gd name="adj" fmla="val 3636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04088" y="233172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Poste client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04088" y="301752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5D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Navigateur web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054096" y="2743200"/>
            <a:ext cx="329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3383280" y="1920240"/>
            <a:ext cx="2468880" cy="2011680"/>
          </a:xfrm>
          <a:prstGeom prst="roundRect">
            <a:avLst>
              <a:gd name="adj" fmla="val 3636"/>
            </a:avLst>
          </a:prstGeom>
          <a:solidFill>
            <a:srgbClr val="1D4EA0"/>
          </a:solidFill>
          <a:ln w="12700">
            <a:solidFill>
              <a:srgbClr val="1D4EA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20440" y="233172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Serveur d'applications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520440" y="301752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5D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WildFly · WAR Jakarta EE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870448" y="2743200"/>
            <a:ext cx="329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6199632" y="1920240"/>
            <a:ext cx="2468880" cy="2011680"/>
          </a:xfrm>
          <a:prstGeom prst="roundRect">
            <a:avLst>
              <a:gd name="adj" fmla="val 3636"/>
            </a:avLst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36792" y="233172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Serveur de données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336792" y="301752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5D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Oracle FREEPDB1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686800" y="2743200"/>
            <a:ext cx="329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9015984" y="1920240"/>
            <a:ext cx="2468880" cy="2011680"/>
          </a:xfrm>
          <a:prstGeom prst="roundRect">
            <a:avLst>
              <a:gd name="adj" fmla="val 3636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53144" y="233172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Restitution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9153144" y="301752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5D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 · Python ETL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4343400"/>
            <a:ext cx="110642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86968" y="4498848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Communication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886968" y="4846320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client dialogue en HTTP avec WildFly, qui accède à Oracle via la source de données JTA java:/OracleDS. Power BI et la chaîne ETL Python se connectent directement aux vues décisionnelles de la base.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Diagramme de cas d'utilisation global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  <p:pic>
        <p:nvPicPr>
          <p:cNvPr id="7" name="Image 0" descr="/home/user/oussema_korbosli/rapport-latex/diagrams/uc_glob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6740" y="1298448"/>
            <a:ext cx="7444217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641080" y="157276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DU DIAGRAMME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8641080" y="2048256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915400" y="1901952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Trois acteurs distincts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8641080" y="2505456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915400" y="2359152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S'authentifier » commun à tous (include)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8641080" y="2962656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915400" y="2816352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L'administrateur concentre la gestion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8641080" y="3419856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915400" y="3273552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directeur soumet et consulte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8641080" y="3877056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915400" y="3730752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L'utilisateur pointe et consulte</a:t>
            </a:r>
            <a:endParaRPr lang="en-US" sz="11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Modèle décisionnel en étoile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66928" y="1481328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TROIS SCHÉMAS COMPARÉS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66928" y="1810512"/>
            <a:ext cx="5394960" cy="841248"/>
          </a:xfrm>
          <a:prstGeom prst="roundRect">
            <a:avLst>
              <a:gd name="adj" fmla="val 6522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1248" y="1883664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Étoile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841248" y="2231136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Simple, lisible, requêtes rapides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2779776"/>
            <a:ext cx="539496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41248" y="2852928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Flocon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841248" y="3200400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Dimensions normalisées, plus de jointures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3749040"/>
            <a:ext cx="539496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1248" y="3822192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Constellation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841248" y="4169664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Plusieurs tables de faits, surdimensionné ici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566928" y="4754880"/>
            <a:ext cx="5394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grain unique — l'agence — et peu de dimensions : le modèle en étoile offre la lisibilité attendue par un outil libre-service comme Power BI.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537960" y="1810512"/>
            <a:ext cx="5120640" cy="384048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12280" y="1993392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55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fait_agence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812280" y="237744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Effectif · gestionnaires · clients · comptes ouverts · production de crédits · collecte d'épargne · taux de présence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812280" y="320040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TABLES DE DIMENSIONS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812280" y="362102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086600" y="3474720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dim_agence — libellé, district, région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812280" y="407822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086600" y="3931920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période — analyse par mois et exercice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6812280" y="453542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086600" y="4389120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gestionnaire — portefeuille par responsable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812280" y="499262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086600" y="4846320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type_client — particulier, société, entreprise</a:t>
            </a:r>
            <a:endParaRPr lang="en-US" sz="11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A25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49808" y="50292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795528" y="233172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04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749808" y="2688336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Volet décisionnel &amp; réalisation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0" y="431596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Chaîne ETL en Python : cinq étapes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572768"/>
            <a:ext cx="2066544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572768"/>
            <a:ext cx="2066544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77393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749808" y="2157984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Collecte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749808" y="2523744"/>
            <a:ext cx="17373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des 5 tables sources Oracle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651760" y="2377440"/>
            <a:ext cx="146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2798064" y="1572768"/>
            <a:ext cx="2066544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798064" y="1572768"/>
            <a:ext cx="2066544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5" name="Text 13"/>
          <p:cNvSpPr/>
          <p:nvPr/>
        </p:nvSpPr>
        <p:spPr>
          <a:xfrm>
            <a:off x="2980944" y="177393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2980944" y="2157984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Nettoyage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2980944" y="2523744"/>
            <a:ext cx="17373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Lignes incomplètes écartées, typage des colonnes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882896" y="2377440"/>
            <a:ext cx="146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5029200" y="1572768"/>
            <a:ext cx="2066544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29200" y="1572768"/>
            <a:ext cx="2066544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1" name="Text 19"/>
          <p:cNvSpPr/>
          <p:nvPr/>
        </p:nvSpPr>
        <p:spPr>
          <a:xfrm>
            <a:off x="5212080" y="177393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5212080" y="2157984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Transformation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5212080" y="2523744"/>
            <a:ext cx="17373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Agrégation par agence des 7 indicateurs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114032" y="2377440"/>
            <a:ext cx="146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7260336" y="1572768"/>
            <a:ext cx="2066544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260336" y="1572768"/>
            <a:ext cx="2066544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7" name="Text 25"/>
          <p:cNvSpPr/>
          <p:nvPr/>
        </p:nvSpPr>
        <p:spPr>
          <a:xfrm>
            <a:off x="7443216" y="177393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7443216" y="2157984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Intégration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7443216" y="2523744"/>
            <a:ext cx="17373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Fusion des sources sur la clé SK_AGENCE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9345168" y="2377440"/>
            <a:ext cx="146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9491472" y="1572768"/>
            <a:ext cx="2066544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9491472" y="1572768"/>
            <a:ext cx="2066544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33" name="Text 31"/>
          <p:cNvSpPr/>
          <p:nvPr/>
        </p:nvSpPr>
        <p:spPr>
          <a:xfrm>
            <a:off x="9674352" y="177393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700" dirty="0"/>
          </a:p>
        </p:txBody>
      </p:sp>
      <p:sp>
        <p:nvSpPr>
          <p:cNvPr id="34" name="Text 32"/>
          <p:cNvSpPr/>
          <p:nvPr/>
        </p:nvSpPr>
        <p:spPr>
          <a:xfrm>
            <a:off x="9674352" y="2157984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Contrôle qualité</a:t>
            </a:r>
            <a:endParaRPr lang="en-US" sz="1350" dirty="0"/>
          </a:p>
        </p:txBody>
      </p:sp>
      <p:sp>
        <p:nvSpPr>
          <p:cNvPr id="35" name="Text 33"/>
          <p:cNvSpPr/>
          <p:nvPr/>
        </p:nvSpPr>
        <p:spPr>
          <a:xfrm>
            <a:off x="9674352" y="2523744"/>
            <a:ext cx="17373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Valeurs manquantes, arrondis et journal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66928" y="3794760"/>
            <a:ext cx="5394960" cy="1965960"/>
          </a:xfrm>
          <a:prstGeom prst="roundRect">
            <a:avLst>
              <a:gd name="adj" fmla="val 2791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86968" y="3977640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Sources Oracle</a:t>
            </a:r>
            <a:endParaRPr lang="en-US" sz="1450" dirty="0"/>
          </a:p>
        </p:txBody>
      </p:sp>
      <p:sp>
        <p:nvSpPr>
          <p:cNvPr id="38" name="Text 36"/>
          <p:cNvSpPr/>
          <p:nvPr/>
        </p:nvSpPr>
        <p:spPr>
          <a:xfrm>
            <a:off x="886968" y="4352544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CBD8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AGENCE · B_UTILISATEURS · B_CLIENTS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CBD8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B_OBJECTIF · POINTAGE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886968" y="513892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Chaîne rejouable, exécutée sur les données réelles du réseau.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6537960" y="3794760"/>
            <a:ext cx="2468880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537960" y="3794760"/>
            <a:ext cx="2468880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42" name="Text 40"/>
          <p:cNvSpPr/>
          <p:nvPr/>
        </p:nvSpPr>
        <p:spPr>
          <a:xfrm>
            <a:off x="6629400" y="4109314"/>
            <a:ext cx="2286000" cy="9043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45</a:t>
            </a:r>
            <a:endParaRPr lang="en-US" sz="2600" dirty="0"/>
          </a:p>
        </p:txBody>
      </p:sp>
      <p:sp>
        <p:nvSpPr>
          <p:cNvPr id="43" name="Text 41"/>
          <p:cNvSpPr/>
          <p:nvPr/>
        </p:nvSpPr>
        <p:spPr>
          <a:xfrm>
            <a:off x="6629400" y="5013655"/>
            <a:ext cx="2286000" cy="5897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agences consolidées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9189720" y="3794760"/>
            <a:ext cx="2468880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9189720" y="3794760"/>
            <a:ext cx="2468880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46" name="Text 44"/>
          <p:cNvSpPr/>
          <p:nvPr/>
        </p:nvSpPr>
        <p:spPr>
          <a:xfrm>
            <a:off x="9281160" y="4109314"/>
            <a:ext cx="2286000" cy="9043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2600" dirty="0"/>
          </a:p>
        </p:txBody>
      </p:sp>
      <p:sp>
        <p:nvSpPr>
          <p:cNvPr id="47" name="Text 45"/>
          <p:cNvSpPr/>
          <p:nvPr/>
        </p:nvSpPr>
        <p:spPr>
          <a:xfrm>
            <a:off x="9281160" y="5013655"/>
            <a:ext cx="2286000" cy="5897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indicateurs par agence</a:t>
            </a:r>
            <a:endParaRPr lang="en-US" sz="11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Datamart obtenu sur les données réelles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  <p:pic>
        <p:nvPicPr>
          <p:cNvPr id="7" name="Image 0" descr="/home/user/oussema_korbosli/rapport-latex/images/etl/etl_cell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42306" y="1417320"/>
            <a:ext cx="7313484" cy="32004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4828032"/>
            <a:ext cx="11064240" cy="1298448"/>
          </a:xfrm>
          <a:prstGeom prst="roundRect">
            <a:avLst>
              <a:gd name="adj" fmla="val 4225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86968" y="4974336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Lecture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86968" y="5303520"/>
            <a:ext cx="10424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datamart décrit chaque agence par ses sept indicateurs. BIZERTE et MGHIRA dominent le portefeuille clients, tandis que CENTRALE concentre la production de crédits — une hétérogénéité que la segmentation exploitera.</a:t>
            </a:r>
            <a:endParaRPr lang="en-US" sz="12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Intégration du modèle dans Power BI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00" dirty="0"/>
          </a:p>
        </p:txBody>
      </p:sp>
      <p:pic>
        <p:nvPicPr>
          <p:cNvPr id="7" name="Image 0" descr="/home/user/oussema_korbosli/rapport-latex/images/etl/pbi_mode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7272" y="1371600"/>
            <a:ext cx="4951473" cy="47548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720840" y="1536192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RELATIONS DU MODÈLE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6720840" y="1874520"/>
            <a:ext cx="4937760" cy="64008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949440" y="1911096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AGENCE → B_UTILISATEURS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6949440" y="220370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SK_AGENCE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10835640" y="1874520"/>
            <a:ext cx="685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— ∗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720840" y="2624328"/>
            <a:ext cx="4937760" cy="64008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949440" y="2660904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AGENCE → B_CLIENTS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6949440" y="295351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SK_AGENCE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10835640" y="2624328"/>
            <a:ext cx="685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— ∗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720840" y="3374136"/>
            <a:ext cx="4937760" cy="64008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949440" y="341071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AGENCE → B_OBJECTIF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6949440" y="370332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SK_AGENCE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10835640" y="3374136"/>
            <a:ext cx="685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— ∗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6720840" y="4123944"/>
            <a:ext cx="4937760" cy="64008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949440" y="4160520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B_UTILISATEURS → POINTAGE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949440" y="445312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SK_UTILISATEUR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10835640" y="4123944"/>
            <a:ext cx="685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— ∗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6720840" y="4956048"/>
            <a:ext cx="4937760" cy="1170432"/>
          </a:xfrm>
          <a:prstGeom prst="roundRect">
            <a:avLst>
              <a:gd name="adj" fmla="val 4688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6949440" y="5084064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Filtrage croisé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6949440" y="5394960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relations un-à-plusieurs propagent le filtre de la dimension vers les faits : un clic recalcule tous les visuels.</a:t>
            </a:r>
            <a:endParaRPr lang="en-US" sz="11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Tableau de bord — Résumé du réseau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00" dirty="0"/>
          </a:p>
        </p:txBody>
      </p:sp>
      <p:pic>
        <p:nvPicPr>
          <p:cNvPr id="7" name="Image 0" descr="/home/user/oussema_korbosli/rapport-latex/images/screens/pbi_resu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31987"/>
            <a:ext cx="7086600" cy="3856866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7882128" y="1371600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882128" y="1371600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0" name="Text 7"/>
          <p:cNvSpPr/>
          <p:nvPr/>
        </p:nvSpPr>
        <p:spPr>
          <a:xfrm>
            <a:off x="7973568" y="1570573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30 K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7973568" y="2142622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clients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7882128" y="2761488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882128" y="2761488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4" name="Text 11"/>
          <p:cNvSpPr/>
          <p:nvPr/>
        </p:nvSpPr>
        <p:spPr>
          <a:xfrm>
            <a:off x="7973568" y="2960461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1,40 Md</a:t>
            </a:r>
            <a:endParaRPr lang="en-US" sz="2600" dirty="0"/>
          </a:p>
        </p:txBody>
      </p:sp>
      <p:sp>
        <p:nvSpPr>
          <p:cNvPr id="15" name="Text 12"/>
          <p:cNvSpPr/>
          <p:nvPr/>
        </p:nvSpPr>
        <p:spPr>
          <a:xfrm>
            <a:off x="7973568" y="3532510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crédits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882128" y="4151376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882128" y="4151376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8" name="Text 15"/>
          <p:cNvSpPr/>
          <p:nvPr/>
        </p:nvSpPr>
        <p:spPr>
          <a:xfrm>
            <a:off x="7973568" y="4350349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87,9 %</a:t>
            </a:r>
            <a:endParaRPr lang="en-US" sz="2600" dirty="0"/>
          </a:p>
        </p:txBody>
      </p:sp>
      <p:sp>
        <p:nvSpPr>
          <p:cNvPr id="19" name="Text 16"/>
          <p:cNvSpPr/>
          <p:nvPr/>
        </p:nvSpPr>
        <p:spPr>
          <a:xfrm>
            <a:off x="7973568" y="4922398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présence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5559552"/>
            <a:ext cx="1106424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4124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4241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Vue consolidée des indicateurs clés du réseau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445312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65429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pointage sur trois est un retard ou une absence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806500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826617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 de production en février, puis tassement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Tableau de bord — Clients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900" dirty="0"/>
          </a:p>
        </p:txBody>
      </p:sp>
      <p:pic>
        <p:nvPicPr>
          <p:cNvPr id="7" name="Image 0" descr="/home/user/oussema_korbosli/rapport-latex/images/screens/pbi_clien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34827"/>
            <a:ext cx="7086600" cy="3851186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7882128" y="1371600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882128" y="1371600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0" name="Text 7"/>
          <p:cNvSpPr/>
          <p:nvPr/>
        </p:nvSpPr>
        <p:spPr>
          <a:xfrm>
            <a:off x="7973568" y="1570573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88 %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7973568" y="2142622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particuliers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7882128" y="2761488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882128" y="2761488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4" name="Text 11"/>
          <p:cNvSpPr/>
          <p:nvPr/>
        </p:nvSpPr>
        <p:spPr>
          <a:xfrm>
            <a:off x="7973568" y="2960461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24</a:t>
            </a:r>
            <a:endParaRPr lang="en-US" sz="2600" dirty="0"/>
          </a:p>
        </p:txBody>
      </p:sp>
      <p:sp>
        <p:nvSpPr>
          <p:cNvPr id="15" name="Text 12"/>
          <p:cNvSpPr/>
          <p:nvPr/>
        </p:nvSpPr>
        <p:spPr>
          <a:xfrm>
            <a:off x="7973568" y="3532510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gouvernorats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882128" y="4151376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882128" y="4151376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8" name="Text 15"/>
          <p:cNvSpPr/>
          <p:nvPr/>
        </p:nvSpPr>
        <p:spPr>
          <a:xfrm>
            <a:off x="7973568" y="4350349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63 %</a:t>
            </a:r>
            <a:endParaRPr lang="en-US" sz="2600" dirty="0"/>
          </a:p>
        </p:txBody>
      </p:sp>
      <p:sp>
        <p:nvSpPr>
          <p:cNvPr id="19" name="Text 16"/>
          <p:cNvSpPr/>
          <p:nvPr/>
        </p:nvSpPr>
        <p:spPr>
          <a:xfrm>
            <a:off x="7973568" y="4922398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hommes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5559552"/>
            <a:ext cx="1106424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4124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4241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Portefeuille très majoritairement « particuliers »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445312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65429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Forte concentration sur le Grand Tunis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806500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826617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Marge de développement sur la clientèle professionnelle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Tableau de bord — Performance commerciale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900" dirty="0"/>
          </a:p>
        </p:txBody>
      </p:sp>
      <p:pic>
        <p:nvPicPr>
          <p:cNvPr id="7" name="Image 0" descr="/home/user/oussema_korbosli/rapport-latex/images/screens/pbi_commerci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34827"/>
            <a:ext cx="7086600" cy="3851186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7882128" y="1371600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882128" y="1371600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0" name="Text 7"/>
          <p:cNvSpPr/>
          <p:nvPr/>
        </p:nvSpPr>
        <p:spPr>
          <a:xfrm>
            <a:off x="7973568" y="1570573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1,40 Md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7973568" y="2142622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crédits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7882128" y="2761488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882128" y="2761488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4" name="Text 11"/>
          <p:cNvSpPr/>
          <p:nvPr/>
        </p:nvSpPr>
        <p:spPr>
          <a:xfrm>
            <a:off x="7973568" y="2960461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105 K</a:t>
            </a:r>
            <a:endParaRPr lang="en-US" sz="2600" dirty="0"/>
          </a:p>
        </p:txBody>
      </p:sp>
      <p:sp>
        <p:nvSpPr>
          <p:cNvPr id="15" name="Text 12"/>
          <p:cNvSpPr/>
          <p:nvPr/>
        </p:nvSpPr>
        <p:spPr>
          <a:xfrm>
            <a:off x="7973568" y="3532510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comptes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882128" y="4151376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882128" y="4151376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8" name="Text 15"/>
          <p:cNvSpPr/>
          <p:nvPr/>
        </p:nvSpPr>
        <p:spPr>
          <a:xfrm>
            <a:off x="7973568" y="4350349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83,6 %</a:t>
            </a:r>
            <a:endParaRPr lang="en-US" sz="2600" dirty="0"/>
          </a:p>
        </p:txBody>
      </p:sp>
      <p:sp>
        <p:nvSpPr>
          <p:cNvPr id="19" name="Text 16"/>
          <p:cNvSpPr/>
          <p:nvPr/>
        </p:nvSpPr>
        <p:spPr>
          <a:xfrm>
            <a:off x="7973568" y="4922398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EER particuliers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5559552"/>
            <a:ext cx="1106424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4124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4241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équilibrée : immobilier, conso, investissement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445312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65429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comptes chèques dominent les ouvertures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806500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826617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CENTRALE : agence phare, bonnes pratiques à diffuser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Tableau de bord — Présence &amp; assiduité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900" dirty="0"/>
          </a:p>
        </p:txBody>
      </p:sp>
      <p:pic>
        <p:nvPicPr>
          <p:cNvPr id="7" name="Image 0" descr="/home/user/oussema_korbosli/rapport-latex/images/screens/pbi_prese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34827"/>
            <a:ext cx="7086600" cy="3851186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7882128" y="1371600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882128" y="1371600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0" name="Text 7"/>
          <p:cNvSpPr/>
          <p:nvPr/>
        </p:nvSpPr>
        <p:spPr>
          <a:xfrm>
            <a:off x="7973568" y="1570573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87,9 %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7973568" y="2142622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taux de présence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7882128" y="2761488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882128" y="2761488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4" name="Text 11"/>
          <p:cNvSpPr/>
          <p:nvPr/>
        </p:nvSpPr>
        <p:spPr>
          <a:xfrm>
            <a:off x="7973568" y="2960461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25 %</a:t>
            </a:r>
            <a:endParaRPr lang="en-US" sz="2600" dirty="0"/>
          </a:p>
        </p:txBody>
      </p:sp>
      <p:sp>
        <p:nvSpPr>
          <p:cNvPr id="15" name="Text 12"/>
          <p:cNvSpPr/>
          <p:nvPr/>
        </p:nvSpPr>
        <p:spPr>
          <a:xfrm>
            <a:off x="7973568" y="3532510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retards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882128" y="4151376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882128" y="4151376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8" name="Text 15"/>
          <p:cNvSpPr/>
          <p:nvPr/>
        </p:nvSpPr>
        <p:spPr>
          <a:xfrm>
            <a:off x="7973568" y="4350349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72 %</a:t>
            </a:r>
            <a:endParaRPr lang="en-US" sz="2600" dirty="0"/>
          </a:p>
        </p:txBody>
      </p:sp>
      <p:sp>
        <p:nvSpPr>
          <p:cNvPr id="19" name="Text 16"/>
          <p:cNvSpPr/>
          <p:nvPr/>
        </p:nvSpPr>
        <p:spPr>
          <a:xfrm>
            <a:off x="7973568" y="4922398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pointage auto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5559552"/>
            <a:ext cx="1106424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4124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4241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Bonne adoption du pointage automatique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445312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65429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 d'assiduité en avril–mai, repli estival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806500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826617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Agences à surveiller identifiées pour action RH</a:t>
            </a:r>
            <a:endParaRPr lang="en-US" sz="11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Réalisation et environnement technique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554480"/>
            <a:ext cx="1353312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pic>
        <p:nvPicPr>
          <p:cNvPr id="8" name="Image 0" descr="/home/user/oussema_korbosli/rapport-latex/images/logos/jav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700784"/>
            <a:ext cx="566928" cy="56692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12648" y="2359152"/>
            <a:ext cx="1261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 21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2048256" y="1554480"/>
            <a:ext cx="1353312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pic>
        <p:nvPicPr>
          <p:cNvPr id="11" name="Image 1" descr="/home/user/oussema_korbosli/rapport-latex/images/logos/jakartae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9152" y="1706118"/>
            <a:ext cx="731520" cy="55626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2093976" y="2359152"/>
            <a:ext cx="1261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Jakarta EE 10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3529584" y="1554480"/>
            <a:ext cx="1353312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pic>
        <p:nvPicPr>
          <p:cNvPr id="14" name="Image 2" descr="/home/user/oussema_korbosli/rapport-latex/images/logos/hiberna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22776" y="1700784"/>
            <a:ext cx="566928" cy="566928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575304" y="2359152"/>
            <a:ext cx="1261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Hibernate</a:t>
            </a:r>
            <a:endParaRPr lang="en-US" sz="1050" dirty="0"/>
          </a:p>
        </p:txBody>
      </p:sp>
      <p:sp>
        <p:nvSpPr>
          <p:cNvPr id="16" name="Shape 11"/>
          <p:cNvSpPr/>
          <p:nvPr/>
        </p:nvSpPr>
        <p:spPr>
          <a:xfrm>
            <a:off x="5010912" y="1554480"/>
            <a:ext cx="1353312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pic>
        <p:nvPicPr>
          <p:cNvPr id="17" name="Image 3" descr="/home/user/oussema_korbosli/rapport-latex/images/logos/oracl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04104" y="1700784"/>
            <a:ext cx="566928" cy="566928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5056632" y="2359152"/>
            <a:ext cx="1261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Oracle</a:t>
            </a:r>
            <a:endParaRPr lang="en-US" sz="1050" dirty="0"/>
          </a:p>
        </p:txBody>
      </p:sp>
      <p:sp>
        <p:nvSpPr>
          <p:cNvPr id="19" name="Shape 13"/>
          <p:cNvSpPr/>
          <p:nvPr/>
        </p:nvSpPr>
        <p:spPr>
          <a:xfrm>
            <a:off x="566928" y="2971800"/>
            <a:ext cx="1353312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pic>
        <p:nvPicPr>
          <p:cNvPr id="20" name="Image 4" descr="/home/user/oussema_korbosli/rapport-latex/images/logos/wildfly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20" y="3118104"/>
            <a:ext cx="566928" cy="566928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612648" y="3776472"/>
            <a:ext cx="1261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WildFly</a:t>
            </a:r>
            <a:endParaRPr lang="en-US" sz="1050" dirty="0"/>
          </a:p>
        </p:txBody>
      </p:sp>
      <p:sp>
        <p:nvSpPr>
          <p:cNvPr id="22" name="Shape 15"/>
          <p:cNvSpPr/>
          <p:nvPr/>
        </p:nvSpPr>
        <p:spPr>
          <a:xfrm>
            <a:off x="2048256" y="2971800"/>
            <a:ext cx="1353312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pic>
        <p:nvPicPr>
          <p:cNvPr id="23" name="Image 5" descr="/home/user/oussema_korbosli/rapport-latex/images/logos/mave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59152" y="3309366"/>
            <a:ext cx="731520" cy="184404"/>
          </a:xfrm>
          <a:prstGeom prst="rect">
            <a:avLst/>
          </a:prstGeom>
        </p:spPr>
      </p:pic>
      <p:sp>
        <p:nvSpPr>
          <p:cNvPr id="24" name="Text 16"/>
          <p:cNvSpPr/>
          <p:nvPr/>
        </p:nvSpPr>
        <p:spPr>
          <a:xfrm>
            <a:off x="2093976" y="3776472"/>
            <a:ext cx="1261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Maven</a:t>
            </a:r>
            <a:endParaRPr lang="en-US" sz="1050" dirty="0"/>
          </a:p>
        </p:txBody>
      </p:sp>
      <p:sp>
        <p:nvSpPr>
          <p:cNvPr id="25" name="Shape 17"/>
          <p:cNvSpPr/>
          <p:nvPr/>
        </p:nvSpPr>
        <p:spPr>
          <a:xfrm>
            <a:off x="3529584" y="2971800"/>
            <a:ext cx="1353312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pic>
        <p:nvPicPr>
          <p:cNvPr id="26" name="Image 6" descr="/home/user/oussema_korbosli/rapport-latex/images/logos/powerbi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922776" y="3118104"/>
            <a:ext cx="566928" cy="566928"/>
          </a:xfrm>
          <a:prstGeom prst="rect">
            <a:avLst/>
          </a:prstGeom>
        </p:spPr>
      </p:pic>
      <p:sp>
        <p:nvSpPr>
          <p:cNvPr id="27" name="Text 18"/>
          <p:cNvSpPr/>
          <p:nvPr/>
        </p:nvSpPr>
        <p:spPr>
          <a:xfrm>
            <a:off x="3575304" y="3776472"/>
            <a:ext cx="1261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</a:t>
            </a:r>
            <a:endParaRPr lang="en-US" sz="1050" dirty="0"/>
          </a:p>
        </p:txBody>
      </p:sp>
      <p:sp>
        <p:nvSpPr>
          <p:cNvPr id="28" name="Shape 19"/>
          <p:cNvSpPr/>
          <p:nvPr/>
        </p:nvSpPr>
        <p:spPr>
          <a:xfrm>
            <a:off x="5010912" y="2971800"/>
            <a:ext cx="1353312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pic>
        <p:nvPicPr>
          <p:cNvPr id="29" name="Image 7" descr="/home/user/oussema_korbosli/rapport-latex/images/logos/python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04104" y="3118104"/>
            <a:ext cx="566928" cy="566928"/>
          </a:xfrm>
          <a:prstGeom prst="rect">
            <a:avLst/>
          </a:prstGeom>
        </p:spPr>
      </p:pic>
      <p:sp>
        <p:nvSpPr>
          <p:cNvPr id="30" name="Text 20"/>
          <p:cNvSpPr/>
          <p:nvPr/>
        </p:nvSpPr>
        <p:spPr>
          <a:xfrm>
            <a:off x="5056632" y="3776472"/>
            <a:ext cx="1261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1050" dirty="0"/>
          </a:p>
        </p:txBody>
      </p:sp>
      <p:sp>
        <p:nvSpPr>
          <p:cNvPr id="31" name="Text 21"/>
          <p:cNvSpPr/>
          <p:nvPr/>
        </p:nvSpPr>
        <p:spPr>
          <a:xfrm>
            <a:off x="566928" y="4480560"/>
            <a:ext cx="5669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packagée par Maven et déployée sur WildFly ; chaîne ETL et segmentation en Python (pandas, scikit-learn).</a:t>
            </a:r>
            <a:endParaRPr lang="en-US" sz="1250" dirty="0"/>
          </a:p>
        </p:txBody>
      </p:sp>
      <p:sp>
        <p:nvSpPr>
          <p:cNvPr id="32" name="Shape 22"/>
          <p:cNvSpPr/>
          <p:nvPr/>
        </p:nvSpPr>
        <p:spPr>
          <a:xfrm>
            <a:off x="566928" y="5230368"/>
            <a:ext cx="5669280" cy="896112"/>
          </a:xfrm>
          <a:prstGeom prst="roundRect">
            <a:avLst>
              <a:gd name="adj" fmla="val 6122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33" name="Text 23"/>
          <p:cNvSpPr/>
          <p:nvPr/>
        </p:nvSpPr>
        <p:spPr>
          <a:xfrm>
            <a:off x="566928" y="5230368"/>
            <a:ext cx="5669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scénarios de tests fonctionnels — tous conformes</a:t>
            </a:r>
            <a:endParaRPr lang="en-US" sz="1250" dirty="0"/>
          </a:p>
        </p:txBody>
      </p:sp>
      <p:pic>
        <p:nvPicPr>
          <p:cNvPr id="34" name="Image 8" descr="/home/user/oussema_korbosli/rapport-latex/images/screens/pointage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46520" y="1797057"/>
            <a:ext cx="5212080" cy="2623805"/>
          </a:xfrm>
          <a:prstGeom prst="rect">
            <a:avLst/>
          </a:prstGeom>
        </p:spPr>
      </p:pic>
      <p:sp>
        <p:nvSpPr>
          <p:cNvPr id="35" name="Text 24"/>
          <p:cNvSpPr/>
          <p:nvPr/>
        </p:nvSpPr>
        <p:spPr>
          <a:xfrm>
            <a:off x="6446520" y="4754880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i="1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de pointage : cartes de synthèse, pointage du jour et saisie manuelle.</a:t>
            </a:r>
            <a:endParaRPr lang="en-US" sz="11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A25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49808" y="50292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795528" y="233172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05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749808" y="2688336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Intelligence artificielle &amp; démonstration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0" y="431596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Zoom technique — segmentation par K-Means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66928" y="14173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Principe : regrouper les agences en profils homogènes à partir de six indicateurs réels, sans étiquette préalable (apprentissage non supervisé).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66928" y="2011680"/>
            <a:ext cx="557784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86384" y="219456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10" name="Text 8"/>
          <p:cNvSpPr/>
          <p:nvPr/>
        </p:nvSpPr>
        <p:spPr>
          <a:xfrm>
            <a:off x="786384" y="219456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499616" y="2084832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Prétraitement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499616" y="2450592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sur les montants puis centrage-réduction (6 variables)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3035808"/>
            <a:ext cx="557784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86384" y="3218688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15" name="Text 13"/>
          <p:cNvSpPr/>
          <p:nvPr/>
        </p:nvSpPr>
        <p:spPr>
          <a:xfrm>
            <a:off x="786384" y="321868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499616" y="3108960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Choix de k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499616" y="3474720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Coude et silhouette → k = 3, exploitable pour le pilotage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059936"/>
            <a:ext cx="557784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86384" y="4242816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20" name="Text 18"/>
          <p:cNvSpPr/>
          <p:nvPr/>
        </p:nvSpPr>
        <p:spPr>
          <a:xfrm>
            <a:off x="786384" y="4242816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1499616" y="4133088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Comparaison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499616" y="4498848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K-Means, hiérarchique, GMM et DBSCAN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66928" y="5084064"/>
            <a:ext cx="557784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86384" y="5266944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25" name="Text 23"/>
          <p:cNvSpPr/>
          <p:nvPr/>
        </p:nvSpPr>
        <p:spPr>
          <a:xfrm>
            <a:off x="786384" y="5266944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1499616" y="5157216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Modèle retenu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1499616" y="5522976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K-Means : meilleure silhouette (0,604) et cohésion (95,2)</a:t>
            </a:r>
            <a:endParaRPr lang="en-US" sz="1150" dirty="0"/>
          </a:p>
        </p:txBody>
      </p:sp>
      <p:pic>
        <p:nvPicPr>
          <p:cNvPr id="28" name="Image 0" descr="/home/user/oussema_korbosli/rapport-latex/images/clustering_pc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2216506"/>
            <a:ext cx="5212080" cy="3613709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Résultats de la segmentation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554480"/>
            <a:ext cx="3502152" cy="3657600"/>
          </a:xfrm>
          <a:prstGeom prst="roundRect">
            <a:avLst>
              <a:gd name="adj" fmla="val 15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554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Text 7"/>
          <p:cNvSpPr/>
          <p:nvPr/>
        </p:nvSpPr>
        <p:spPr>
          <a:xfrm>
            <a:off x="841248" y="1783080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34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841248" y="2487168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Agences d'exploitation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841248" y="2889504"/>
            <a:ext cx="2971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880 clients · 12 employés · 7,80 MDT de crédits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41248" y="3584448"/>
            <a:ext cx="914400" cy="22860"/>
          </a:xfrm>
          <a:prstGeom prst="rect">
            <a:avLst/>
          </a:prstGeom>
          <a:solidFill>
            <a:srgbClr val="DDE3ED"/>
          </a:solidFill>
          <a:ln/>
        </p:spPr>
      </p:sp>
      <p:sp>
        <p:nvSpPr>
          <p:cNvPr id="13" name="Text 11"/>
          <p:cNvSpPr/>
          <p:nvPr/>
        </p:nvSpPr>
        <p:spPr>
          <a:xfrm>
            <a:off x="841248" y="374904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Objectifs différenciés, diffusion des bonnes pratiques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343400" y="1554480"/>
            <a:ext cx="3502152" cy="3657600"/>
          </a:xfrm>
          <a:prstGeom prst="roundRect">
            <a:avLst>
              <a:gd name="adj" fmla="val 15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43400" y="1554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6" name="Text 14"/>
          <p:cNvSpPr/>
          <p:nvPr/>
        </p:nvSpPr>
        <p:spPr>
          <a:xfrm>
            <a:off x="4617720" y="1783080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3400" dirty="0"/>
          </a:p>
        </p:txBody>
      </p:sp>
      <p:sp>
        <p:nvSpPr>
          <p:cNvPr id="17" name="Text 15"/>
          <p:cNvSpPr/>
          <p:nvPr/>
        </p:nvSpPr>
        <p:spPr>
          <a:xfrm>
            <a:off x="4617720" y="2487168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Entités de production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4617720" y="2889504"/>
            <a:ext cx="2971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Quasi aucun client · 14,61 MDT de crédits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617720" y="3584448"/>
            <a:ext cx="914400" cy="22860"/>
          </a:xfrm>
          <a:prstGeom prst="rect">
            <a:avLst/>
          </a:prstGeom>
          <a:solidFill>
            <a:srgbClr val="DDE3ED"/>
          </a:solidFill>
          <a:ln/>
        </p:spPr>
      </p:sp>
      <p:sp>
        <p:nvSpPr>
          <p:cNvPr id="20" name="Text 18"/>
          <p:cNvSpPr/>
          <p:nvPr/>
        </p:nvSpPr>
        <p:spPr>
          <a:xfrm>
            <a:off x="4617720" y="374904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Analyser ces financements réalisés hors guichet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119872" y="1554480"/>
            <a:ext cx="3502152" cy="3657600"/>
          </a:xfrm>
          <a:prstGeom prst="roundRect">
            <a:avLst>
              <a:gd name="adj" fmla="val 15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119872" y="1554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3" name="Text 21"/>
          <p:cNvSpPr/>
          <p:nvPr/>
        </p:nvSpPr>
        <p:spPr>
          <a:xfrm>
            <a:off x="8394192" y="1783080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</a:t>
            </a:r>
            <a:endParaRPr lang="en-US" sz="3400" dirty="0"/>
          </a:p>
        </p:txBody>
      </p:sp>
      <p:sp>
        <p:nvSpPr>
          <p:cNvPr id="24" name="Text 22"/>
          <p:cNvSpPr/>
          <p:nvPr/>
        </p:nvSpPr>
        <p:spPr>
          <a:xfrm>
            <a:off x="8394192" y="2487168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Entités sans activité</a:t>
            </a:r>
            <a:endParaRPr lang="en-US" sz="1550" dirty="0"/>
          </a:p>
        </p:txBody>
      </p:sp>
      <p:sp>
        <p:nvSpPr>
          <p:cNvPr id="25" name="Text 23"/>
          <p:cNvSpPr/>
          <p:nvPr/>
        </p:nvSpPr>
        <p:spPr>
          <a:xfrm>
            <a:off x="8394192" y="2889504"/>
            <a:ext cx="2971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 clientèle, ni comptes, ni production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8394192" y="3584448"/>
            <a:ext cx="914400" cy="22860"/>
          </a:xfrm>
          <a:prstGeom prst="rect">
            <a:avLst/>
          </a:prstGeom>
          <a:solidFill>
            <a:srgbClr val="DDE3ED"/>
          </a:solidFill>
          <a:ln/>
        </p:spPr>
      </p:sp>
      <p:sp>
        <p:nvSpPr>
          <p:cNvPr id="27" name="Text 25"/>
          <p:cNvSpPr/>
          <p:nvPr/>
        </p:nvSpPr>
        <p:spPr>
          <a:xfrm>
            <a:off x="8394192" y="374904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Statuer : ouverture, rattachement ou intégration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66928" y="5413248"/>
            <a:ext cx="11064240" cy="749808"/>
          </a:xfrm>
          <a:prstGeom prst="roundRect">
            <a:avLst>
              <a:gd name="adj" fmla="val 7317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66928" y="5413248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Apport décisionnel : différencier les objectifs selon le régime d'activité réel et fiabiliser le référentiel</a:t>
            </a:r>
            <a:endParaRPr lang="en-US" sz="12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A25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66928" y="25146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DÉMONSTRATION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66928" y="292608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Démonstration en direct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66928" y="37490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web · tableau de bord embarqué · rapport Power BI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4343400"/>
            <a:ext cx="1234440" cy="27432"/>
          </a:xfrm>
          <a:prstGeom prst="rect">
            <a:avLst/>
          </a:prstGeom>
          <a:solidFill>
            <a:srgbClr val="3C6FC3"/>
          </a:solidFill>
          <a:ln/>
        </p:spPr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A25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49808" y="50292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795528" y="233172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06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749808" y="2688336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Conclusion &amp; perspectives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0" y="431596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Conclusion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600200"/>
            <a:ext cx="11064240" cy="1115568"/>
          </a:xfrm>
          <a:prstGeom prst="roundRect">
            <a:avLst>
              <a:gd name="adj" fmla="val 491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41248" y="1892808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9" name="Text 7"/>
          <p:cNvSpPr/>
          <p:nvPr/>
        </p:nvSpPr>
        <p:spPr>
          <a:xfrm>
            <a:off x="841248" y="189280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591056" y="1746504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Application web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1591056" y="2148840"/>
            <a:ext cx="9692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centralisée du réseau : agences, employés, clients, objectifs, rôles, pointage et circuits de validation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66928" y="2898648"/>
            <a:ext cx="11064240" cy="1115568"/>
          </a:xfrm>
          <a:prstGeom prst="roundRect">
            <a:avLst>
              <a:gd name="adj" fmla="val 491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41248" y="3191256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14" name="Text 12"/>
          <p:cNvSpPr/>
          <p:nvPr/>
        </p:nvSpPr>
        <p:spPr>
          <a:xfrm>
            <a:off x="841248" y="3191256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591056" y="3044952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Chaîne décisionnelle</a:t>
            </a:r>
            <a:endParaRPr lang="en-US" sz="1550" dirty="0"/>
          </a:p>
        </p:txBody>
      </p:sp>
      <p:sp>
        <p:nvSpPr>
          <p:cNvPr id="16" name="Text 14"/>
          <p:cNvSpPr/>
          <p:nvPr/>
        </p:nvSpPr>
        <p:spPr>
          <a:xfrm>
            <a:off x="1591056" y="3447288"/>
            <a:ext cx="9692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ETL Python, datamart en étoile et quatre tableaux de bord Power BI sur les données réelles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4197096"/>
            <a:ext cx="11064240" cy="1115568"/>
          </a:xfrm>
          <a:prstGeom prst="roundRect">
            <a:avLst>
              <a:gd name="adj" fmla="val 491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41248" y="4489704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19" name="Text 17"/>
          <p:cNvSpPr/>
          <p:nvPr/>
        </p:nvSpPr>
        <p:spPr>
          <a:xfrm>
            <a:off x="841248" y="4489704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1591056" y="4343400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Intelligence artificielle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1591056" y="4745736"/>
            <a:ext cx="9692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Segmentation du réseau en trois profils d'agences directement exploitables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566928" y="5504688"/>
            <a:ext cx="11064240" cy="731520"/>
          </a:xfrm>
          <a:prstGeom prst="roundRect">
            <a:avLst>
              <a:gd name="adj" fmla="val 7500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66928" y="550468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 système complet, de la donnée opérationnelle jusqu'à la décision</a:t>
            </a:r>
            <a:endParaRPr lang="en-US" sz="15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Perspectives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600200"/>
            <a:ext cx="5257800" cy="1225296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600200"/>
            <a:ext cx="73152" cy="1225296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Text 7"/>
          <p:cNvSpPr/>
          <p:nvPr/>
        </p:nvSpPr>
        <p:spPr>
          <a:xfrm>
            <a:off x="886968" y="17830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Sécurité renforcée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886968" y="216712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Hachage des mots de passe et durcissement des accès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90488" y="1600200"/>
            <a:ext cx="5257800" cy="1225296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90488" y="1600200"/>
            <a:ext cx="73152" cy="1225296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3" name="Text 11"/>
          <p:cNvSpPr/>
          <p:nvPr/>
        </p:nvSpPr>
        <p:spPr>
          <a:xfrm>
            <a:off x="6510528" y="17830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Industrialisation de l'ETL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6510528" y="216712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Ordonnancement automatique et historisation incrémentale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66928" y="3063240"/>
            <a:ext cx="5257800" cy="1225296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66928" y="3063240"/>
            <a:ext cx="73152" cy="1225296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7" name="Text 15"/>
          <p:cNvSpPr/>
          <p:nvPr/>
        </p:nvSpPr>
        <p:spPr>
          <a:xfrm>
            <a:off x="886968" y="32461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Analyses prédictives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886968" y="363016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Prévision des objectifs commerciaux par agence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190488" y="3063240"/>
            <a:ext cx="5257800" cy="1225296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190488" y="3063240"/>
            <a:ext cx="73152" cy="1225296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1" name="Text 19"/>
          <p:cNvSpPr/>
          <p:nvPr/>
        </p:nvSpPr>
        <p:spPr>
          <a:xfrm>
            <a:off x="6510528" y="32461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API REST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6510528" y="363016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Interopérabilité avec les autres systèmes de la banque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66928" y="4526280"/>
            <a:ext cx="5257800" cy="1225296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6928" y="4526280"/>
            <a:ext cx="73152" cy="1225296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5" name="Text 23"/>
          <p:cNvSpPr/>
          <p:nvPr/>
        </p:nvSpPr>
        <p:spPr>
          <a:xfrm>
            <a:off x="886968" y="47091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Application mobile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886968" y="509320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Consultation des indicateurs en mobilité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190488" y="4526280"/>
            <a:ext cx="5257800" cy="1225296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190488" y="4526280"/>
            <a:ext cx="73152" cy="1225296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9" name="Text 27"/>
          <p:cNvSpPr/>
          <p:nvPr/>
        </p:nvSpPr>
        <p:spPr>
          <a:xfrm>
            <a:off x="6510528" y="47091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Alertes automatiques</a:t>
            </a:r>
            <a:endParaRPr lang="en-US" sz="1450" dirty="0"/>
          </a:p>
        </p:txBody>
      </p:sp>
      <p:sp>
        <p:nvSpPr>
          <p:cNvPr id="30" name="Text 28"/>
          <p:cNvSpPr/>
          <p:nvPr/>
        </p:nvSpPr>
        <p:spPr>
          <a:xfrm>
            <a:off x="6510528" y="509320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Notification des agences sous les seuils critiques</a:t>
            </a:r>
            <a:endParaRPr lang="en-US" sz="12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0A25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9646920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5" name="Shape 3"/>
          <p:cNvSpPr/>
          <p:nvPr/>
        </p:nvSpPr>
        <p:spPr>
          <a:xfrm>
            <a:off x="10030968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6" name="Shape 4"/>
          <p:cNvSpPr/>
          <p:nvPr/>
        </p:nvSpPr>
        <p:spPr>
          <a:xfrm>
            <a:off x="10415016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7" name="Shape 5"/>
          <p:cNvSpPr/>
          <p:nvPr/>
        </p:nvSpPr>
        <p:spPr>
          <a:xfrm>
            <a:off x="10799064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8" name="Shape 6"/>
          <p:cNvSpPr/>
          <p:nvPr/>
        </p:nvSpPr>
        <p:spPr>
          <a:xfrm>
            <a:off x="11183112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Shape 7"/>
          <p:cNvSpPr/>
          <p:nvPr/>
        </p:nvSpPr>
        <p:spPr>
          <a:xfrm>
            <a:off x="11567160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0" name="Text 8"/>
          <p:cNvSpPr/>
          <p:nvPr/>
        </p:nvSpPr>
        <p:spPr>
          <a:xfrm>
            <a:off x="566928" y="2651760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spc="200" kern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MERCI POUR VOTRE ATTENTION</a:t>
            </a:r>
            <a:endParaRPr lang="en-US" sz="2700" dirty="0"/>
          </a:p>
        </p:txBody>
      </p:sp>
      <p:sp>
        <p:nvSpPr>
          <p:cNvPr id="11" name="Shape 9"/>
          <p:cNvSpPr/>
          <p:nvPr/>
        </p:nvSpPr>
        <p:spPr>
          <a:xfrm>
            <a:off x="566928" y="3657600"/>
            <a:ext cx="1234440" cy="2743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2" name="Text 10"/>
          <p:cNvSpPr/>
          <p:nvPr/>
        </p:nvSpPr>
        <p:spPr>
          <a:xfrm>
            <a:off x="566928" y="3931920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</a:t>
            </a:r>
            <a:endParaRPr lang="en-US" sz="1700" dirty="0"/>
          </a:p>
        </p:txBody>
      </p:sp>
      <p:pic>
        <p:nvPicPr>
          <p:cNvPr id="13" name="Image 0" descr="/home/user/oussema_korbosli/rapport-latex/images/logo_es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5029200"/>
            <a:ext cx="1417320" cy="859536"/>
          </a:xfrm>
          <a:prstGeom prst="rect">
            <a:avLst/>
          </a:prstGeom>
        </p:spPr>
      </p:pic>
      <p:pic>
        <p:nvPicPr>
          <p:cNvPr id="14" name="Image 1" descr="/home/user/oussema_korbosli/rapport-latex/images/logo_bt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1720" y="5029200"/>
            <a:ext cx="777240" cy="81381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36</Slides>
  <Notes>36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3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Soutenance PFE — Gestion des agences BTK</dc:title>
  <dc:subject>PptxGenJS Presentation</dc:subject>
  <dc:creator>Oussema Korbosli</dc:creator>
  <cp:lastModifiedBy>Oussema Korbosli</cp:lastModifiedBy>
  <cp:revision>1</cp:revision>
  <dcterms:created xsi:type="dcterms:W3CDTF">2026-08-28T20:20:08Z</dcterms:created>
  <dcterms:modified xsi:type="dcterms:W3CDTF">2026-08-28T20:20:08Z</dcterms:modified>
</cp:coreProperties>
</file>