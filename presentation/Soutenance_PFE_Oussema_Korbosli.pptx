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image" Target="../media/image-29-7.png"/><Relationship Id="rId8" Type="http://schemas.openxmlformats.org/officeDocument/2006/relationships/image" Target="../media/image-29-8.png"/><Relationship Id="rId9" Type="http://schemas.openxmlformats.org/officeDocument/2006/relationships/image" Target="../media/image-29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64692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5" name="Shape 3"/>
          <p:cNvSpPr/>
          <p:nvPr/>
        </p:nvSpPr>
        <p:spPr>
          <a:xfrm>
            <a:off x="10030968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6" name="Shape 4"/>
          <p:cNvSpPr/>
          <p:nvPr/>
        </p:nvSpPr>
        <p:spPr>
          <a:xfrm>
            <a:off x="10415016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Shape 5"/>
          <p:cNvSpPr/>
          <p:nvPr/>
        </p:nvSpPr>
        <p:spPr>
          <a:xfrm>
            <a:off x="10799064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8" name="Shape 6"/>
          <p:cNvSpPr/>
          <p:nvPr/>
        </p:nvSpPr>
        <p:spPr>
          <a:xfrm>
            <a:off x="11183112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156716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pic>
        <p:nvPicPr>
          <p:cNvPr id="10" name="Image 0" descr="/home/user/oussema_korbosli/rapport-latex/images/logo_es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84048"/>
            <a:ext cx="1572768" cy="950976"/>
          </a:xfrm>
          <a:prstGeom prst="rect">
            <a:avLst/>
          </a:prstGeom>
        </p:spPr>
      </p:pic>
      <p:pic>
        <p:nvPicPr>
          <p:cNvPr id="11" name="Image 1" descr="/home/user/oussema_korbosli/rapport-latex/images/logo_bt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658368" cy="6858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6928" y="1783080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DE FIN D'ÉTUDES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566928" y="219456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Système intelligent de gestion des rôles et</a:t>
            </a:r>
            <a:endParaRPr lang="en-US" sz="28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pointage avec tableau de bord décisionnel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566928" y="365760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9FB6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Intelligence</a:t>
            </a:r>
            <a:endParaRPr lang="en-US" sz="1900" dirty="0"/>
          </a:p>
        </p:txBody>
      </p:sp>
      <p:sp>
        <p:nvSpPr>
          <p:cNvPr id="15" name="Shape 11"/>
          <p:cNvSpPr/>
          <p:nvPr/>
        </p:nvSpPr>
        <p:spPr>
          <a:xfrm>
            <a:off x="566928" y="4169664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Text 12"/>
          <p:cNvSpPr/>
          <p:nvPr/>
        </p:nvSpPr>
        <p:spPr>
          <a:xfrm>
            <a:off x="566928" y="444398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Présenté par : Oussema Korbosli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566928" y="4956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Maître de stage : </a:t>
            </a:r>
            <a:pPr indent="0" marL="0">
              <a:buNone/>
            </a:pPr>
            <a:r>
              <a:rPr lang="en-US" sz="125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ELMOULA Melek Aziz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566928" y="5257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Encadrant académique : </a:t>
            </a:r>
            <a:pPr indent="0" marL="0">
              <a:buNone/>
            </a:pPr>
            <a:r>
              <a:rPr lang="en-US" sz="125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ABIDI Heni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66928" y="581558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BTK – Banque Tuniso-Koweïtienne   ·   Année universitaire 2025/2026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310128" cy="6858000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834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977640" y="105156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977640" y="172821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général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3977640" y="278892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977640" y="346557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Spécifications des besoins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3977640" y="452628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977640" y="520293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&amp; architecture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092440" y="105156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092440" y="172821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Volet décisionnel &amp; réalisation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092440" y="278892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092440" y="346557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artificielle &amp; démonstration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092440" y="452628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092440" y="520293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perspectives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01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Contexte général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Contexte général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463040"/>
            <a:ext cx="11064240" cy="1481328"/>
          </a:xfrm>
          <a:prstGeom prst="roundRect">
            <a:avLst>
              <a:gd name="adj" fmla="val 3704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463040"/>
            <a:ext cx="101498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 Une donnée dispersée ne décide rien : c'est en la consolidant</a:t>
            </a: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qu'elle devient un instrument de pilotage. »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66928" y="334670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3200400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réseau de 45 agences réparties sur tout le territoire tunisien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385876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712464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 d'activité éclatées entre plusieurs fichiers et applications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43708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4224528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besoin de piloter la performance commerciale et l'assiduité des équipes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88289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4736592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direction qui doit décider vite, sur des indicateurs fiables et à jour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6968" y="534924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du projet : centraliser la gestion du réseau et transformer les données opérationnelles en indicateurs d'aide à la décision.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Présentation de l'organisme d'accueil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5532120" cy="4526280"/>
          </a:xfrm>
          <a:prstGeom prst="roundRect">
            <a:avLst>
              <a:gd name="adj" fmla="val 12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8" name="Image 0" descr="/home/user/oussema_korbosli/rapport-latex/images/logo_bt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643" y="1737360"/>
            <a:ext cx="963930" cy="10058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32688" y="285292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BTK – Banque Tuniso-Koweïtienne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932688" y="34564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207008" y="33101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Banque universelle de droit tunisien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32688" y="39136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207008" y="37673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 le 25 février 1981 (coopération Tunisie – Koweït)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32688" y="43708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07008" y="42245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social de 200 millions de dinars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932688" y="48280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07008" y="46817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Siège social à Tunis, réseau national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446520" y="153619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EFFECTUÉ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446520" y="1847088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46520" y="1847088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8"/>
          <p:cNvSpPr/>
          <p:nvPr/>
        </p:nvSpPr>
        <p:spPr>
          <a:xfrm>
            <a:off x="6720840" y="193852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Département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720840" y="22677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6446520" y="2907792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46520" y="2907792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2"/>
          <p:cNvSpPr/>
          <p:nvPr/>
        </p:nvSpPr>
        <p:spPr>
          <a:xfrm>
            <a:off x="6720840" y="299923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20840" y="332841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 février → 16 juin 2026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6446520" y="3968496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46520" y="3968496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6"/>
          <p:cNvSpPr/>
          <p:nvPr/>
        </p:nvSpPr>
        <p:spPr>
          <a:xfrm>
            <a:off x="6720840" y="405993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Durée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6720840" y="4389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mois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6446520" y="5029200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46520" y="5029200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0"/>
          <p:cNvSpPr/>
          <p:nvPr/>
        </p:nvSpPr>
        <p:spPr>
          <a:xfrm>
            <a:off x="6720840" y="512064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Encadrement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6720840" y="544982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M. ELMOULA Melek Aziz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réseau BTK en chiffres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83280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83280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3474720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997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474720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employés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99632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99632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6291072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29 942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291072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15984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15984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9107424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9107424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gouvernorats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105 K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658368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ouverts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383280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3280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3474720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3474720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 crédits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199632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9632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1"/>
          <p:cNvSpPr/>
          <p:nvPr/>
        </p:nvSpPr>
        <p:spPr>
          <a:xfrm>
            <a:off x="6291072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253 M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6291072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 d'épargne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9015984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15984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7" name="Text 35"/>
          <p:cNvSpPr/>
          <p:nvPr/>
        </p:nvSpPr>
        <p:spPr>
          <a:xfrm>
            <a:off x="9107424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38" name="Text 36"/>
          <p:cNvSpPr/>
          <p:nvPr/>
        </p:nvSpPr>
        <p:spPr>
          <a:xfrm>
            <a:off x="9107424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présence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566928" y="5413248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6928" y="54132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Chiffres issus du datamart réel produit par la chaîne ETL du projet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Problématiques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810512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81051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572768" y="1572768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 d'activité dispersées, saisies et consolidées manuellement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43200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98094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9809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572768" y="2743200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suivi de la présence des employés sans traçabilité fiable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913632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15137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15137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572768" y="3913632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vision consolidée de la performance du réseau d'agences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5084064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532180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3218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1572768" y="5084064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indicateurs de pilotage indisponibles au moment de décider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Étude de l'existant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5361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ENVISAGÉES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874520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9842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Tableurs Excel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41248" y="23500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manuelle des données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008376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11810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Progiciel du marché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1248" y="3483864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intégrée sur étagère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42232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42519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Développement sur mesure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41248" y="461772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adaptée au métier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806440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537960" y="15361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CONSTATÉES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537960" y="1874520"/>
            <a:ext cx="5120640" cy="3145536"/>
          </a:xfrm>
          <a:prstGeom prst="roundRect">
            <a:avLst>
              <a:gd name="adj" fmla="val 17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0" y="22494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40880" y="21031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d'erreurs et de doublons de saisie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766560" y="27066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40880" y="25603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gestion des rôles ni des droits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766560" y="31638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40880" y="30175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traçabilité des opérations sensibles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766560" y="36210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40880" y="34747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élevé des progiciels du marché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766560" y="40782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40880" y="39319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Restitution des indicateurs impossible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66928" y="5285232"/>
            <a:ext cx="11064240" cy="749808"/>
          </a:xfrm>
          <a:prstGeom prst="roundRect">
            <a:avLst>
              <a:gd name="adj" fmla="val 7317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5285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retenu : une solution développée sur mesure, alignée sur les processus réels de la BTK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 proposée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841248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41248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web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841248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centralisée des agences, employés, clients et objectifs · rôles et droits · pointage · circuits de validation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41248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EE · Oracle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Shape 14"/>
          <p:cNvSpPr/>
          <p:nvPr/>
        </p:nvSpPr>
        <p:spPr>
          <a:xfrm>
            <a:off x="4617720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7" name="Text 15"/>
          <p:cNvSpPr/>
          <p:nvPr/>
        </p:nvSpPr>
        <p:spPr>
          <a:xfrm>
            <a:off x="4617720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617720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décisionnelle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617720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Processus ETL consolidant les données dans un datamart en étoile, restitué par des tableaux de bord Power BI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617720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Power BI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Shape 21"/>
          <p:cNvSpPr/>
          <p:nvPr/>
        </p:nvSpPr>
        <p:spPr>
          <a:xfrm>
            <a:off x="8394192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4" name="Text 22"/>
          <p:cNvSpPr/>
          <p:nvPr/>
        </p:nvSpPr>
        <p:spPr>
          <a:xfrm>
            <a:off x="8394192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8394192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8394192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automatique des agences en profils homogènes pour un pilotage différencié du réseau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394192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5870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solution, de la saisie opérationnelle jusqu'à l'aide à la décision.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Méthodologie adoptée : CRISP-DM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centré sur les données : Scrum structure la production logicielle, mais ne couvre pas les étapes d'analyse et de valorisation des données.</a:t>
            </a:r>
            <a:endParaRPr lang="en-US" sz="1300" dirty="0"/>
          </a:p>
        </p:txBody>
      </p:sp>
      <p:pic>
        <p:nvPicPr>
          <p:cNvPr id="8" name="Image 0" descr="/home/user/oussema_korbosli/rapport-latex/images/crispd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8073" y="1783080"/>
            <a:ext cx="5301310" cy="43434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720840" y="1828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CRISP-DM ?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720840" y="22860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995160" y="21396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Méthodologie de référence des projets décisionnels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720840" y="27432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995160" y="25968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six phases épousent le déroulement réel du projet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720840" y="32004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995160" y="30540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Pratiques agiles conservées : itérations et validations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720840" y="36576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995160" y="35112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ne couvre pas l'analyse et la valorisation des données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720840" y="4224528"/>
            <a:ext cx="493776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720840" y="4224528"/>
            <a:ext cx="4937760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0" name="Text 17"/>
          <p:cNvSpPr/>
          <p:nvPr/>
        </p:nvSpPr>
        <p:spPr>
          <a:xfrm>
            <a:off x="6967728" y="44074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Correspondance avec le rapport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967728" y="4791456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1–2  →  Chapitres 1 et 2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→  Chapitre 3 et chaîne ETL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4–5  →  Chapitre 4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  →  Chapitre 5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02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Spécifications des besoins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Identification des acteurs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901952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01952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68096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Administrateur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768096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41248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Couvre les 13 cas d'utilisation : rôles et droits · agences, employés, clients · demandes · pointage · journal d'audit · volet décisionnel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Shape 14"/>
          <p:cNvSpPr/>
          <p:nvPr/>
        </p:nvSpPr>
        <p:spPr>
          <a:xfrm>
            <a:off x="5678424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78424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544568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Directeur commercial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4544568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DIRECTEUR_COMMERCIAL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17720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 les employés, les objectifs et le tableau de bord · soumet les demandes de création · valide les modifications des employés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Shape 21"/>
          <p:cNvSpPr/>
          <p:nvPr/>
        </p:nvSpPr>
        <p:spPr>
          <a:xfrm>
            <a:off x="9454896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54896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8321040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Utilisateur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321040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394192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Pointe son arrivée et son départ · soumet les demandes de modification de ses propres informations · reçoit ses notifications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66928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rôles sont gérés par le module de sécurité (table SECURITY_USERS) et conditionnent l'accès à chaque fonctionnalité.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Besoins fonctionnels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4672" y="190195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27048" y="17922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Authentification &amp; rôles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527048" y="217627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sécurisée, gestion des droits d'accès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0488" y="1572768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28232" y="190195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150608" y="17922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Gestion du référentiel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150608" y="217627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des agences, des employés et des clients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3054096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338328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27048" y="32735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Objectifs commerciaux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527048" y="365760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 la production par agence et par période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90488" y="3054096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28232" y="338328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4" name="Text 22"/>
          <p:cNvSpPr/>
          <p:nvPr/>
        </p:nvSpPr>
        <p:spPr>
          <a:xfrm>
            <a:off x="6428232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150608" y="32735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Pointage des employés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150608" y="365760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Arrivée / départ, statut présent · retard · absent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4535424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4672" y="486460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" y="4864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1527048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Circuits de validation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527048" y="513892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validation : approbation du directeur puis exécution par l'admin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190488" y="4535424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8232" y="486460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34" name="Text 32"/>
          <p:cNvSpPr/>
          <p:nvPr/>
        </p:nvSpPr>
        <p:spPr>
          <a:xfrm>
            <a:off x="6428232" y="4864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7150608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Volet décisionnel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7150608" y="513892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ETL, tableaux de bord et segmentation des agences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Besoins non fonctionnels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Sécurité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41248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Authentification, rôles et workflows de validation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3400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3400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4617720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Fiabilité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17720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Intégrité garantie par le SGBD et les transactions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19872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19872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394192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94192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de réponse adapté aux volumes manipulés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841248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Ergonomie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41248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claire, navigation par menu latéral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343400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43400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4617720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Maintenabilité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617720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en couches, code faiblement couplé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8119872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19872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8394192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Portabilité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394192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Jakarta EE standard, serveur compatible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03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Conception &amp; architecture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logique en couches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72768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86968" y="1664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Présentation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86968" y="2048256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JSP / JSTL et graphiques ApexCharts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2606040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" y="2606040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886968" y="2697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Contrôle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86968" y="3081528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Servlets et filtre de sécurité (NotificationFilter)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639312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3639312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86968" y="37307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Métier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86968" y="411480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EJB encapsulant les règles de gestion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4672584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4672584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886968" y="476402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Persistance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86968" y="5148072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Entités JPA / Hibernate vers la base Oracle</a:t>
            </a:r>
            <a:endParaRPr lang="en-US" sz="1200" dirty="0"/>
          </a:p>
        </p:txBody>
      </p:sp>
      <p:pic>
        <p:nvPicPr>
          <p:cNvPr id="23" name="Image 0" descr="/home/user/oussema_korbosli/rapport-latex/diagrams/archi_logiq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46996" y="1572768"/>
            <a:ext cx="3599848" cy="402336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566928" y="5870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 MVC : chaque couche est indépendante et faiblement couplée aux autres.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physique (3-tiers)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4088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Poste client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04088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Navigateur web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054096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383280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0440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Serveur d'applications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20440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WildFly · WAR Jakarta EE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870448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199632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36792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Serveur de données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36792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FREEPDB1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686800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015984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53144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Restitution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153144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Python ETL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34340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6968" y="449884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Communication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86968" y="48463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client dialogue en HTTP avec WildFly, qui accède à Oracle via la source de données JTA java:/OracleDS. Power BI et la chaîne ETL Python se connectent directement aux vues décisionnelles de la base.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Diagramme de cas d'utilisation global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pic>
        <p:nvPicPr>
          <p:cNvPr id="7" name="Image 0" descr="/home/user/oussema_korbosli/rapport-latex/diagrams/uc_glob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8904" y="1170432"/>
            <a:ext cx="3985873" cy="5212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46520" y="170078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DU DIAGRAMME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446520" y="223113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20840" y="208483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acteurs, treize cas d'utilisation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446520" y="268833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720840" y="254203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cas inclut « S'authentifier » (include)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446520" y="314553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720840" y="299923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Administrateur : les 13 cas, sans exception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446520" y="360273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720840" y="345643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Directeur commercial : 5 cas, dont les employés en consultation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446520" y="405993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20840" y="391363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 : 3 cas — pointage, demandes, notifications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Diagramme de classes du modèle métier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pic>
        <p:nvPicPr>
          <p:cNvPr id="7" name="Image 0" descr="/home/user/oussema_korbosli/rapport-latex/diagrams/cla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29522"/>
            <a:ext cx="7772400" cy="403903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549640" y="15727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DU DIAGRAMME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549640" y="206654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823960" y="192024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classes groupées en 5 paquetages fonctionnels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549640" y="252374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823960" y="237744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Utilisateur » au centre du modèle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549640" y="298094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823960" y="283464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Rattachements par clés étrangères : SK_AGENCE, SK_GESTIONNAIRE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549640" y="343814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823960" y="329184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Demandes, pointage, journal, notifications : @ManyToOne vers Utilisateur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549640" y="389534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823960" y="374904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DemandeAgence ↔ Utilisateur : @ManyToMany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8549640" y="435254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823960" y="420624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héritage ni composition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Modèle décisionnel en étoile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4813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SCHÉMAS COMPARÉS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810512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88366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Étoile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41248" y="22311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lisible, requêtes rapides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79776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285292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Flocon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1248" y="320040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normalisées, plus de jointures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749040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38221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Constellation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41248" y="416966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Plusieurs tables de faits, surdimensionné ici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66928" y="47548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grains homogènes — l'agence, puis le couple agence × gestionnaire — et peu de dimensions : l'étoile offre la lisibilité attendue par un outil libre-service comme Power BI.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1810512"/>
            <a:ext cx="5120640" cy="384048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12280" y="197510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DATAMART CHARGÉ PAR L'ETL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12280" y="239572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86600" y="224942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fait_agence / dim_agence — 7 indicateurs au grain de l'agence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812280" y="285292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86600" y="270662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fait_objectif / dim_gestionnaire — production au grain agence × gestionnaire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812280" y="371246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COUCHE SÉMANTIQUE POWER BI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12280" y="413308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86600" y="398678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vues V_BI_* : production, effectifs, clients, présence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812280" y="459028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86600" y="444398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conformes AGENCE (SK_AGENCE) et B_UTILISATEURS (SK_UTILISATEUR)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812280" y="504748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86600" y="490118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 et type de client : dimensions dégénérées portées par les vues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04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Volet décisionnel &amp; réalisation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ETL en Python : cinq étapes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49808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Collecte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49808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des 5 tables sources Oracle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651760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798064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98064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5" name="Text 13"/>
          <p:cNvSpPr/>
          <p:nvPr/>
        </p:nvSpPr>
        <p:spPr>
          <a:xfrm>
            <a:off x="2980944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980944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Nettoyage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980944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 incomplètes écartées, typage des colonnes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82896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029200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0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5212080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212080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Transformation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212080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Agrégation par agence des 7 indicateurs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114032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260336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60336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7" name="Text 25"/>
          <p:cNvSpPr/>
          <p:nvPr/>
        </p:nvSpPr>
        <p:spPr>
          <a:xfrm>
            <a:off x="7443216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443216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Intégration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7443216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sur SK_AGENCE, puis regroupement sur SK_UTILISATEUR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345168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9491472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491472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1"/>
          <p:cNvSpPr/>
          <p:nvPr/>
        </p:nvSpPr>
        <p:spPr>
          <a:xfrm>
            <a:off x="9674352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9674352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Contrôle qualité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674352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manquantes, arrondis et journal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3794760"/>
            <a:ext cx="5394960" cy="1965960"/>
          </a:xfrm>
          <a:prstGeom prst="roundRect">
            <a:avLst>
              <a:gd name="adj" fmla="val 2791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86968" y="397764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 Oracle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886968" y="4352544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· B_UTILISATEURS · CLIENT_BTK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B_OBJECTIF · POINTAGE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886968" y="51389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rejouable, exécutée sur les données réelles du réseau.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537960" y="3794760"/>
            <a:ext cx="246888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37960" y="3794760"/>
            <a:ext cx="2468880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42" name="Text 40"/>
          <p:cNvSpPr/>
          <p:nvPr/>
        </p:nvSpPr>
        <p:spPr>
          <a:xfrm>
            <a:off x="6629400" y="4109314"/>
            <a:ext cx="2286000" cy="904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49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6629400" y="5013655"/>
            <a:ext cx="228600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entités consolidées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9189720" y="3794760"/>
            <a:ext cx="246888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189720" y="3794760"/>
            <a:ext cx="2468880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46" name="Text 44"/>
          <p:cNvSpPr/>
          <p:nvPr/>
        </p:nvSpPr>
        <p:spPr>
          <a:xfrm>
            <a:off x="9281160" y="4109314"/>
            <a:ext cx="2286000" cy="904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600" dirty="0"/>
          </a:p>
        </p:txBody>
      </p:sp>
      <p:sp>
        <p:nvSpPr>
          <p:cNvPr id="47" name="Text 45"/>
          <p:cNvSpPr/>
          <p:nvPr/>
        </p:nvSpPr>
        <p:spPr>
          <a:xfrm>
            <a:off x="9281160" y="5013655"/>
            <a:ext cx="228600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par agence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Datamart obtenu sur les données réelles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pic>
        <p:nvPicPr>
          <p:cNvPr id="7" name="Image 0" descr="/home/user/oussema_korbosli/rapport-latex/images/etl/etl_cell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2306" y="1417320"/>
            <a:ext cx="7313484" cy="3200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4828032"/>
            <a:ext cx="11064240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6968" y="497433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Lecture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86968" y="530352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datamart décrit chaque agence par ses sept indicateurs. BIZERTE et MGHIRA dominent le portefeuille clients, tandis que CENTRALE concentre la production de crédits — une hétérogénéité que la segmentation exploitera.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Intégration du modèle dans Power BI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pic>
        <p:nvPicPr>
          <p:cNvPr id="7" name="Image 0" descr="/home/user/oussema_korbosli/rapport-latex/images/etl/pbi_mode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2" y="1371600"/>
            <a:ext cx="4951473" cy="4754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720840" y="153619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 DU MODÈLE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720840" y="1874520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949440" y="191109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B_UTILISATEURS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949440" y="220370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0835640" y="1874520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720840" y="2624328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949440" y="266090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B_CLIENTS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949440" y="2953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835640" y="2624328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20840" y="3374136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949440" y="341071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B_OBJECTIF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949440" y="37033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835640" y="3374136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720840" y="4123944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949440" y="416052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B_UTILISATEURS → POINTAGE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949440" y="44531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SK_UTILISATEUR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0835640" y="4123944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720840" y="4956048"/>
            <a:ext cx="4937760" cy="1170432"/>
          </a:xfrm>
          <a:prstGeom prst="roundRect">
            <a:avLst>
              <a:gd name="adj" fmla="val 4688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949440" y="508406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Filtrage croisé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6949440" y="53949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relations un-à-plusieurs propagent le filtre de la dimension vers les faits : un clic recalcule tous les visuels.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Résumé du réseau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resu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1987"/>
            <a:ext cx="7086600" cy="385686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K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présence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consolidée des indicateurs clés du réseau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pointage sur trois est un retard ou une absence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 de production en février, puis tassement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Clients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cli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88 %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particuliers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gouvernorats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63 %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hommes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Portefeuille très majoritairement « particuliers »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 concentration sur le Grand Tunis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de développement sur la clientèle professionnelle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Performance commerciale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commer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105 K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83,6 %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EER particuliers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équilibrée : immobilier, conso, investissement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comptes chèques dominent les ouvertures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CENTRALE : agence phare, bonnes pratiques à diffuser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Présence &amp; assiduité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pres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présence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25 %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retards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72 %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pointage auto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Bonne adoption du pointage automatique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 d'assiduité en avril–mai, repli estival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 à surveiller identifiées pour action RH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Réalisation et environnement technique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8" name="Image 0" descr="/home/user/oussema_korbosli/rapport-latex/images/logos/jav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00784"/>
            <a:ext cx="566928" cy="5669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12648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21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048256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1" name="Image 1" descr="/home/user/oussema_korbosli/rapport-latex/images/logos/jakartae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152" y="1706118"/>
            <a:ext cx="731520" cy="5562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093976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EE 10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3529584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4" name="Image 2" descr="/home/user/oussema_korbosli/rapport-latex/images/logos/hiberna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2776" y="1700784"/>
            <a:ext cx="566928" cy="56692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575304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Hibernate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5010912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7" name="Image 3" descr="/home/user/oussema_korbosli/rapport-latex/images/logos/orac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4104" y="1700784"/>
            <a:ext cx="566928" cy="56692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056632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566928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0" name="Image 4" descr="/home/user/oussema_korbosli/rapport-latex/images/logos/wildfl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118104"/>
            <a:ext cx="566928" cy="566928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12648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WildFly</a:t>
            </a:r>
            <a:endParaRPr lang="en-US" sz="1050" dirty="0"/>
          </a:p>
        </p:txBody>
      </p:sp>
      <p:sp>
        <p:nvSpPr>
          <p:cNvPr id="22" name="Shape 15"/>
          <p:cNvSpPr/>
          <p:nvPr/>
        </p:nvSpPr>
        <p:spPr>
          <a:xfrm>
            <a:off x="2048256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3" name="Image 5" descr="/home/user/oussema_korbosli/rapport-latex/images/logos/mav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59152" y="3309366"/>
            <a:ext cx="731520" cy="184404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2093976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</a:t>
            </a:r>
            <a:endParaRPr lang="en-US" sz="1050" dirty="0"/>
          </a:p>
        </p:txBody>
      </p:sp>
      <p:sp>
        <p:nvSpPr>
          <p:cNvPr id="25" name="Shape 17"/>
          <p:cNvSpPr/>
          <p:nvPr/>
        </p:nvSpPr>
        <p:spPr>
          <a:xfrm>
            <a:off x="3529584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6" name="Image 6" descr="/home/user/oussema_korbosli/rapport-latex/images/logos/powerbi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22776" y="3118104"/>
            <a:ext cx="566928" cy="566928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3575304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050" dirty="0"/>
          </a:p>
        </p:txBody>
      </p:sp>
      <p:sp>
        <p:nvSpPr>
          <p:cNvPr id="28" name="Shape 19"/>
          <p:cNvSpPr/>
          <p:nvPr/>
        </p:nvSpPr>
        <p:spPr>
          <a:xfrm>
            <a:off x="5010912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9" name="Image 7" descr="/home/user/oussema_korbosli/rapport-latex/images/logos/pytho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04104" y="3118104"/>
            <a:ext cx="566928" cy="566928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5056632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50" dirty="0"/>
          </a:p>
        </p:txBody>
      </p:sp>
      <p:sp>
        <p:nvSpPr>
          <p:cNvPr id="31" name="Text 21"/>
          <p:cNvSpPr/>
          <p:nvPr/>
        </p:nvSpPr>
        <p:spPr>
          <a:xfrm>
            <a:off x="566928" y="4480560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packagée par Maven et déployée sur WildFly ; chaîne ETL et segmentation en Python (pandas, scikit-learn).</a:t>
            </a:r>
            <a:endParaRPr lang="en-US" sz="1250" dirty="0"/>
          </a:p>
        </p:txBody>
      </p:sp>
      <p:sp>
        <p:nvSpPr>
          <p:cNvPr id="32" name="Shape 22"/>
          <p:cNvSpPr/>
          <p:nvPr/>
        </p:nvSpPr>
        <p:spPr>
          <a:xfrm>
            <a:off x="566928" y="5230368"/>
            <a:ext cx="5669280" cy="896112"/>
          </a:xfrm>
          <a:prstGeom prst="roundRect">
            <a:avLst>
              <a:gd name="adj" fmla="val 61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3" name="Text 23"/>
          <p:cNvSpPr/>
          <p:nvPr/>
        </p:nvSpPr>
        <p:spPr>
          <a:xfrm>
            <a:off x="566928" y="5230368"/>
            <a:ext cx="5669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scénarios de tests fonctionnels — tous conformes</a:t>
            </a:r>
            <a:endParaRPr lang="en-US" sz="1250" dirty="0"/>
          </a:p>
        </p:txBody>
      </p:sp>
      <p:pic>
        <p:nvPicPr>
          <p:cNvPr id="34" name="Image 8" descr="/home/user/oussema_korbosli/rapport-latex/images/screens/pointag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6520" y="1797057"/>
            <a:ext cx="5212080" cy="2623805"/>
          </a:xfrm>
          <a:prstGeom prst="rect">
            <a:avLst/>
          </a:prstGeom>
        </p:spPr>
      </p:pic>
      <p:sp>
        <p:nvSpPr>
          <p:cNvPr id="35" name="Text 24"/>
          <p:cNvSpPr/>
          <p:nvPr/>
        </p:nvSpPr>
        <p:spPr>
          <a:xfrm>
            <a:off x="6446520" y="475488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de pointage : cartes de synthèse, pointage du jour et saisie manuelle.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05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 &amp; démonstration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Zoom technique — segmentation par K-Means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Principe : regrouper les agences en profils homogènes à partir de six indicateurs réels, sans étiquette préalable (apprentissage non supervisé).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011680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" y="21945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21945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99616" y="208483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Prétraitement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499616" y="245059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sur les montants puis centrage-réduction (6 variables)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035808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321868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32186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99616" y="31089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Choix de k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99616" y="347472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Coude et silhouette → k = 3, exploitable pour le pilotage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59936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" y="424281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424281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499616" y="413308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Comparaison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99616" y="44988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K-Means, hiérarchique, GMM et DBSCAN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084064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384" y="526694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" y="52669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499616" y="515721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Modèle retenu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499616" y="552297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: meilleure silhouette (0,604) et cohésion (95,2)</a:t>
            </a:r>
            <a:endParaRPr lang="en-US" sz="1150" dirty="0"/>
          </a:p>
        </p:txBody>
      </p:sp>
      <p:pic>
        <p:nvPicPr>
          <p:cNvPr id="28" name="Image 0" descr="/home/user/oussema_korbosli/rapport-latex/images/clustering_p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2216506"/>
            <a:ext cx="5212080" cy="3613709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Résultats de la segmentation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841248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Agences d'exploitation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841248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880 clients · 12 employés · 7,80 MDT de crédits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41248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différenciés, diffusion des bonnes pratiques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Text 14"/>
          <p:cNvSpPr/>
          <p:nvPr/>
        </p:nvSpPr>
        <p:spPr>
          <a:xfrm>
            <a:off x="4617720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4617720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Entités de production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617720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Quasi aucun client · 14,61 MDT de crédits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17720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20" name="Text 18"/>
          <p:cNvSpPr/>
          <p:nvPr/>
        </p:nvSpPr>
        <p:spPr>
          <a:xfrm>
            <a:off x="4617720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Analyser ces financements réalisés hors guichet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Text 21"/>
          <p:cNvSpPr/>
          <p:nvPr/>
        </p:nvSpPr>
        <p:spPr>
          <a:xfrm>
            <a:off x="8394192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8394192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Entités sans activité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8394192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clientèle, ni comptes, ni production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394192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27" name="Text 25"/>
          <p:cNvSpPr/>
          <p:nvPr/>
        </p:nvSpPr>
        <p:spPr>
          <a:xfrm>
            <a:off x="8394192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Statuer : ouverture, rattachement ou intégration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5413248"/>
            <a:ext cx="11064240" cy="749808"/>
          </a:xfrm>
          <a:prstGeom prst="roundRect">
            <a:avLst>
              <a:gd name="adj" fmla="val 7317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541324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Apport décisionnel : différencier les objectifs selon le régime d'activité réel et fiabiliser le référentiel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117043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Parcours de démonstration — les trois rôles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2231136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432304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même circuit est suivi de bout en bout : on se connecte, on agit, et l'on voit la trace de l'action.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962656"/>
            <a:ext cx="3502152" cy="1389888"/>
          </a:xfrm>
          <a:prstGeom prst="roundRect">
            <a:avLst>
              <a:gd name="adj" fmla="val 5263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9808" y="3145536"/>
            <a:ext cx="384048" cy="384048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3145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25296" y="312724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Connexion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054096" y="3145536"/>
            <a:ext cx="868680" cy="274320"/>
          </a:xfrm>
          <a:prstGeom prst="rect">
            <a:avLst>
              <a:gd name="adj" fmla="val 13333"/>
            </a:avLst>
          </a:prstGeom>
          <a:solidFill>
            <a:srgbClr val="3C6FC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49808" y="3584448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Identifiants vérifiés, rôle chargé en session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51960" y="2962656"/>
            <a:ext cx="3502152" cy="1389888"/>
          </a:xfrm>
          <a:prstGeom prst="roundRect">
            <a:avLst>
              <a:gd name="adj" fmla="val 5263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34840" y="3145536"/>
            <a:ext cx="384048" cy="384048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34840" y="3145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910328" y="312724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739128" y="3145536"/>
            <a:ext cx="868680" cy="274320"/>
          </a:xfrm>
          <a:prstGeom prst="rect">
            <a:avLst>
              <a:gd name="adj" fmla="val 13333"/>
            </a:avLst>
          </a:prstGeom>
          <a:solidFill>
            <a:srgbClr val="3C6FC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434840" y="3584448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Indicateurs, graphiques et actions requises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936992" y="2962656"/>
            <a:ext cx="3502152" cy="1389888"/>
          </a:xfrm>
          <a:prstGeom prst="roundRect">
            <a:avLst>
              <a:gd name="adj" fmla="val 5263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19872" y="3145536"/>
            <a:ext cx="384048" cy="384048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19872" y="3145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595360" y="312724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Employés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424160" y="3145536"/>
            <a:ext cx="868680" cy="274320"/>
          </a:xfrm>
          <a:prstGeom prst="rect">
            <a:avLst>
              <a:gd name="adj" fmla="val 13333"/>
            </a:avLst>
          </a:prstGeom>
          <a:solidFill>
            <a:srgbClr val="3C6FC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119872" y="3584448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 d'un employé, filtre et liste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66928" y="4535424"/>
            <a:ext cx="3502152" cy="1389888"/>
          </a:xfrm>
          <a:prstGeom prst="roundRect">
            <a:avLst>
              <a:gd name="adj" fmla="val 5263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49808" y="4718304"/>
            <a:ext cx="384048" cy="384048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9808" y="4718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225296" y="470001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Agences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054096" y="4718304"/>
            <a:ext cx="868680" cy="274320"/>
          </a:xfrm>
          <a:prstGeom prst="rect">
            <a:avLst>
              <a:gd name="adj" fmla="val 13333"/>
            </a:avLst>
          </a:prstGeom>
          <a:solidFill>
            <a:srgbClr val="3C6FC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49808" y="5157216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Création et suppression d'une agence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251960" y="4535424"/>
            <a:ext cx="3502152" cy="1389888"/>
          </a:xfrm>
          <a:prstGeom prst="roundRect">
            <a:avLst>
              <a:gd name="adj" fmla="val 5263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434840" y="4718304"/>
            <a:ext cx="384048" cy="384048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434840" y="4718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910328" y="470001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Pointage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39128" y="4718304"/>
            <a:ext cx="868680" cy="274320"/>
          </a:xfrm>
          <a:prstGeom prst="rect">
            <a:avLst>
              <a:gd name="adj" fmla="val 13333"/>
            </a:avLst>
          </a:prstGeom>
          <a:solidFill>
            <a:srgbClr val="3C6FC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434840" y="5157216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Arrivée, départ et statut calculé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7936992" y="4535424"/>
            <a:ext cx="3502152" cy="1389888"/>
          </a:xfrm>
          <a:prstGeom prst="roundRect">
            <a:avLst>
              <a:gd name="adj" fmla="val 5263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119872" y="4718304"/>
            <a:ext cx="384048" cy="384048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119872" y="4718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8595360" y="470001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Validation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10424160" y="4718304"/>
            <a:ext cx="868680" cy="274320"/>
          </a:xfrm>
          <a:prstGeom prst="rect">
            <a:avLst>
              <a:gd name="adj" fmla="val 13333"/>
            </a:avLst>
          </a:prstGeom>
          <a:solidFill>
            <a:srgbClr val="3C6FC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DIRECTEUR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8119872" y="5157216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Approbation d'une demande de modification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566928" y="614476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FB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quatre pages Power BI ont été présentées dans la partie précédente.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Authentification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  <p:pic>
        <p:nvPicPr>
          <p:cNvPr id="7" name="Image 0" descr="/home/user/oussema_korbosli/rapport-latex/images/screens/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71137" y="1188720"/>
            <a:ext cx="8855821" cy="4434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5779008"/>
            <a:ext cx="50292" cy="40233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57607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L'utilisateur saisit son identifiant et son mot de passe ; le rôle est lu dans SECURITY_USERS et chargé en session.</a:t>
            </a:r>
            <a:endParaRPr lang="en-US" sz="12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Gestion des agences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  <p:pic>
        <p:nvPicPr>
          <p:cNvPr id="7" name="Image 0" descr="/home/user/oussema_korbosli/rapport-latex/images/screens/agenc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2363" y="1188720"/>
            <a:ext cx="8773370" cy="4434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5779008"/>
            <a:ext cx="50292" cy="40233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57607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L'administrateur crée, consulte ou supprime une agence, et accède à la liste de ses membres.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Gestion des employés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  <p:pic>
        <p:nvPicPr>
          <p:cNvPr id="7" name="Image 0" descr="/home/user/oussema_korbosli/rapport-latex/images/screens/employ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71159" y="1188720"/>
            <a:ext cx="8855778" cy="4434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5779008"/>
            <a:ext cx="50292" cy="40233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57607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 d'un employé avec son compte de connexion, filtres de recherche et liste, chacun rattaché à son agence.</a:t>
            </a:r>
            <a:endParaRPr lang="en-US" sz="12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Portefeuille clients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00" dirty="0"/>
          </a:p>
        </p:txBody>
      </p:sp>
      <p:pic>
        <p:nvPicPr>
          <p:cNvPr id="7" name="Image 0" descr="/home/user/oussema_korbosli/rapport-latex/images/screens/cli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75757" y="1188720"/>
            <a:ext cx="8846582" cy="4434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5779008"/>
            <a:ext cx="50292" cy="40233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57607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Consultation, recherche et affectation de chaque client à un gestionnaire.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Objectifs commerciaux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00" dirty="0"/>
          </a:p>
        </p:txBody>
      </p:sp>
      <p:pic>
        <p:nvPicPr>
          <p:cNvPr id="7" name="Image 0" descr="/home/user/oussema_korbosli/rapport-latex/images/screens/objectif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82687" y="1188720"/>
            <a:ext cx="8832723" cy="4434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5779008"/>
            <a:ext cx="50292" cy="40233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57607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 comptes, de crédits et d'épargne, restituée par agence et par gestionnaire.</a:t>
            </a:r>
            <a:endParaRPr lang="en-US" sz="12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Pointage des employés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00" dirty="0"/>
          </a:p>
        </p:txBody>
      </p:sp>
      <p:pic>
        <p:nvPicPr>
          <p:cNvPr id="7" name="Image 0" descr="/home/user/oussema_korbosli/rapport-latex/images/screens/point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4236" y="1188720"/>
            <a:ext cx="8809625" cy="4434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5779008"/>
            <a:ext cx="50292" cy="40233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57607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Pointage d'arrivée et de départ ; le statut est calculé par le serveur — au-delà de 9 h, c'est un retard.</a:t>
            </a:r>
            <a:endParaRPr lang="en-US" sz="12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embarqué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900" dirty="0"/>
          </a:p>
        </p:txBody>
      </p:sp>
      <p:pic>
        <p:nvPicPr>
          <p:cNvPr id="7" name="Image 0" descr="/home/user/oussema_korbosli/rapport-latex/images/screens/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71152" y="1188720"/>
            <a:ext cx="8855792" cy="4434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5779008"/>
            <a:ext cx="50292" cy="40233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57607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de synthèse, actions requises selon le rôle et graphiques calculés à l'affichage.</a:t>
            </a:r>
            <a:endParaRPr lang="en-US" sz="12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06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 &amp; perspectives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89280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8928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91056" y="1746504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web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591056" y="2148840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centralisée du réseau : agences, employés, clients, objectifs, rôles, pointage et circuits de validation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2898648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" y="319125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" y="319125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591056" y="3044952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décisionnelle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1591056" y="3447288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Python, datamart en étoile et quatre tableaux de bord Power BI sur les données réelles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197096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1248" y="448970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" y="448970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91056" y="4343400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1591056" y="4745736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du réseau en trois profils d'agences directement exploitables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66928" y="5504688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550468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système complet, de la donnée opérationnelle jusqu'à la décision</a:t>
            </a:r>
            <a:endParaRPr lang="en-US" sz="15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Perspectives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0020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86968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Sécurité renforcée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86968" y="21671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Hachage des mots de passe et durcissement des accès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0488" y="160020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90488" y="160020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6510528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Industrialisation de l'ETL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510528" y="21671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Ordonnancement automatique et historisation incrémentale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06324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306324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86968" y="3246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Analyses prédictives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86968" y="36301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Prévision des objectifs commerciaux par agence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90488" y="306324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90488" y="306324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6510528" y="3246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 REST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6510528" y="36301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Interopérabilité avec les autres systèmes de la banque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52628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452628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886968" y="4709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mobile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86968" y="50932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Consultation des indicateurs en mobilité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190488" y="452628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90488" y="452628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6510528" y="4709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Alertes automatiques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510528" y="50932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 des agences sous les seuils critiques</a:t>
            </a:r>
            <a:endParaRPr lang="en-US" sz="1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64692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5" name="Shape 3"/>
          <p:cNvSpPr/>
          <p:nvPr/>
        </p:nvSpPr>
        <p:spPr>
          <a:xfrm>
            <a:off x="10030968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6" name="Shape 4"/>
          <p:cNvSpPr/>
          <p:nvPr/>
        </p:nvSpPr>
        <p:spPr>
          <a:xfrm>
            <a:off x="10415016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Shape 5"/>
          <p:cNvSpPr/>
          <p:nvPr/>
        </p:nvSpPr>
        <p:spPr>
          <a:xfrm>
            <a:off x="10799064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8" name="Shape 6"/>
          <p:cNvSpPr/>
          <p:nvPr/>
        </p:nvSpPr>
        <p:spPr>
          <a:xfrm>
            <a:off x="11183112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156716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5176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MERCI POUR VOTRE ATTENTION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566928" y="3657600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3931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700" dirty="0"/>
          </a:p>
        </p:txBody>
      </p:sp>
      <p:pic>
        <p:nvPicPr>
          <p:cNvPr id="13" name="Image 0" descr="/home/user/oussema_korbosli/rapport-latex/images/logo_es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5029200"/>
            <a:ext cx="1417320" cy="859536"/>
          </a:xfrm>
          <a:prstGeom prst="rect">
            <a:avLst/>
          </a:prstGeom>
        </p:spPr>
      </p:pic>
      <p:pic>
        <p:nvPicPr>
          <p:cNvPr id="14" name="Image 1" descr="/home/user/oussema_korbosli/rapport-latex/images/logo_bt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720" y="5029200"/>
            <a:ext cx="777240" cy="8138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Soutenance PFE — Gestion des agences BTK</dc:title>
  <dc:subject>PptxGenJS Presentation</dc:subject>
  <dc:creator>Oussema Korbosli</dc:creator>
  <cp:lastModifiedBy>Oussema Korbosli</cp:lastModifiedBy>
  <cp:revision>1</cp:revision>
  <dcterms:created xsi:type="dcterms:W3CDTF">2026-09-02T20:47:42Z</dcterms:created>
  <dcterms:modified xsi:type="dcterms:W3CDTF">2026-09-02T20:47:42Z</dcterms:modified>
</cp:coreProperties>
</file>