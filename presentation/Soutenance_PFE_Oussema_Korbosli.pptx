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pic>
        <p:nvPicPr>
          <p:cNvPr id="10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1572768" cy="950976"/>
          </a:xfrm>
          <a:prstGeom prst="rect">
            <a:avLst/>
          </a:prstGeom>
        </p:spPr>
      </p:pic>
      <p:pic>
        <p:nvPicPr>
          <p:cNvPr id="11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658368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17830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D'ÉTUDES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21945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Système intelligent de gestion des rôles et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pointage avec tableau de bord décisionnel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566928" y="365760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6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Intelligence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66928" y="4169664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2"/>
          <p:cNvSpPr/>
          <p:nvPr/>
        </p:nvSpPr>
        <p:spPr>
          <a:xfrm>
            <a:off x="566928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Oussema Korbosli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4956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de stage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ELMOULA Melek Aziz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66928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académique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ABIDI Heni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66928" y="5815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 – Banque Tuniso-Koweïtienne   ·   Année universitaire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834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9776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9776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général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9776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776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des besoins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9776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776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architecture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924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0924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 &amp; réalisation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924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924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 &amp; démonstration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924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1064240" cy="1481328"/>
          </a:xfrm>
          <a:prstGeom prst="roundRect">
            <a:avLst>
              <a:gd name="adj" fmla="val 3704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0149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Une donnée dispersée ne décide rien : c'est en la consolidant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qu'elle devient un instrument de pilotage. 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" y="334670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200400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45 agences réparties sur tout le territoire tunisien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12464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éclatées entre plusieurs fichiers et applications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2452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besoin de piloter la performance commerciale et l'assiduité des équipes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736592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direction qui doit décider vite, sur des indicateurs fiables et à jour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du projet : centraliser la gestion du réseau et transformer les données opérationnelles en indicateurs d'aide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 de l'organisme d'accueil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5321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_bt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643" y="1737360"/>
            <a:ext cx="96393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8529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BTK – Banque Tuniso-Koweïtienne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32688" y="34564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7008" y="33101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universelle de droit tunisien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2688" y="39136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7673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 le 25 février 1981 (coopération Tunisie – Koweït)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3268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42245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de 200 millions de dinars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32688" y="48280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6817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social à Tunis, réseau national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4652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EFFECTUÉ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1847088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47088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8"/>
          <p:cNvSpPr/>
          <p:nvPr/>
        </p:nvSpPr>
        <p:spPr>
          <a:xfrm>
            <a:off x="6720840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20840" y="22677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46520" y="2907792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2907792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2"/>
          <p:cNvSpPr/>
          <p:nvPr/>
        </p:nvSpPr>
        <p:spPr>
          <a:xfrm>
            <a:off x="6720840" y="29992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20840" y="3328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février → 16 juin 2026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6446520" y="3968496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46520" y="3968496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6"/>
          <p:cNvSpPr/>
          <p:nvPr/>
        </p:nvSpPr>
        <p:spPr>
          <a:xfrm>
            <a:off x="6720840" y="40599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2084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mois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446520" y="5029200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46520" y="5029200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0"/>
          <p:cNvSpPr/>
          <p:nvPr/>
        </p:nvSpPr>
        <p:spPr>
          <a:xfrm>
            <a:off x="6720840" y="5120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Encadrement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720840" y="54498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ELMOULA Melek Aziz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réseau BTK en chiffres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74720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29 942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91072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15984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15984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9107424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07424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58368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ouverts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83280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474720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crédits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6291072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 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291072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d'épargne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15984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5984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7" name="Text 35"/>
          <p:cNvSpPr/>
          <p:nvPr/>
        </p:nvSpPr>
        <p:spPr>
          <a:xfrm>
            <a:off x="9107424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107424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4132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541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chiffres sont issus des données réelles de la base BTK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Problématiques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10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72768" y="157276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dispersées, saisies et consolidées manuellement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432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80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80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72768" y="274320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suivi de la présence des employés sans traçabilité fiable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913632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5137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513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72768" y="391363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consolidée de la performance du réseau d'agences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321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21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72768" y="5084064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de pilotage indisponibles au moment de décider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Étude de l'existant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ENVISAGÉES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9842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Tableurs Excel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350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manuelle des données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118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Progiciel du marché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4838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intégrée sur étagère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251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Développement sur mesure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617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adaptée au métier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CONSTATÉES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1874520"/>
            <a:ext cx="5120640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2249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1031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d'erreurs et de doublons de saisie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706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25603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gestion des rôles ni des droits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66560" y="31638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30175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traçabilité des opérations sensibles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76656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34747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élevé des progiciels du marché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6656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9319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des indicateurs impossible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52852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285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: une solution développée sur mesure, alignée sur les processus réels de la BTK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proposée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41248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des agences, employés, clients et objectifs · rôles et droits · pointage · circuits de 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· Oracle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17720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17720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ETL consolidant les données dans un datamart en étoile, restitué par des tableaux de bord Power BI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617720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Power 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8394192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94192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394192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automatique des agences en profils homogènes pour un pilotage différencié du réseau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94192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solution, de la saisie opérationnelle jusqu'à l'aide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Méthodologie adoptée : CRISP-DM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centré sur les données : Scrum structure la production logicielle, mais ne couvre pas les étapes d'analyse et de valorisation des données.</a:t>
            </a:r>
            <a:endParaRPr lang="en-US" sz="1300" dirty="0"/>
          </a:p>
        </p:txBody>
      </p:sp>
      <p:pic>
        <p:nvPicPr>
          <p:cNvPr id="8" name="Image 0" descr="/home/user/oussema_korbosli/rapport-latex/images/crispd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073" y="1783080"/>
            <a:ext cx="5301310" cy="4343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720840" y="1828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CRISP-DM ?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20840" y="22860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95160" y="21396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référence des projets décisionnels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720840" y="27432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95160" y="25968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six phases épousent le déroulement réel du projet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20840" y="32004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95160" y="30540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agiles conservées : itérations et validations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20840" y="36576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95160" y="35112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ne couvre pas l'analyse et la valorisation des données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720840" y="4224528"/>
            <a:ext cx="493776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4224528"/>
            <a:ext cx="4937760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0" name="Text 17"/>
          <p:cNvSpPr/>
          <p:nvPr/>
        </p:nvSpPr>
        <p:spPr>
          <a:xfrm>
            <a:off x="6967728" y="44074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Correspondance avec le rapport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67728" y="4791456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1–2  →  Chapitres 1 et 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→  Chapitre 3 et chaîne ETL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4–5  →  Chapitre 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→  Chapitre 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Spécifications des besoins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Identification des acteurs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901952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01952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68096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Administrateur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8096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Couvre les 13 cas d'utilisation : rôles et droits · agences, employés, clients · demandes · pointage · journal d'audit · volet décisionnel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5678424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44568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Directeur commercial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44568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DIRECTEUR_COMMERCIAL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les employés, les objectifs et le tableau de bord · soumet les demandes de création · valide les modifications des employés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9454896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210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Utilisateur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321040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9419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 son arrivée et son départ · soumet les demandes de modification de ses propres informations · reçoit ses notifications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sont gérés par le module de sécurité (table SECURITY_USERS) et conditionnent l'accès à chaque fonctionnalité.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&amp; rôles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2704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sécurisée, gestion des droits d'accès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5060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référentiel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15060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des agences, des employés et des clients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2704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Objectifs commerciaux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2704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production par agence et par période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2823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642823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5060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des employés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15060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/ départ, statut présent · retard · absent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52704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Circuits de validation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52704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validation : approbation du directeur puis exécution par l'admin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823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5060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15060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ETL, tableaux de bord et segmentation des agences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non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Authentification, rôles et workflows de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garantie par le SGBD et les transactions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19872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94192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adapté aux volumes manipulés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Ergonomie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claire, navigation par menu latéral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Maintenabilité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couches, code faiblement couplé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9872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8394192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Portabilité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94192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Jakarta EE standard, serveur compatible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Conception &amp; architecture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logique en couches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664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JSP / JSTL et graphiques ApexCharts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606040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2606040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88696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6968" y="308152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Servlets et filtre de sécurité (NotificationFilter)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39312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639312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730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1148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EJB encapsulant les règles de gestion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72584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4672584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8696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JPA / Hibernate vers la base Oracle</a:t>
            </a:r>
            <a:endParaRPr lang="en-US" sz="1200" dirty="0"/>
          </a:p>
        </p:txBody>
      </p:sp>
      <p:pic>
        <p:nvPicPr>
          <p:cNvPr id="23" name="Image 0" descr="/home/user/oussema_korbosli/rapport-latex/diagrams/archi_log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6996" y="1572768"/>
            <a:ext cx="3599848" cy="40233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MVC : chaque couche est indépendante et faiblement couplée aux autres.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physique (3-tiers)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 client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4096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d'applications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 · WAR Jakarta EE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99632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de données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FREEPDB1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0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15984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53144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Restitution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53144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Python ETL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4988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846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dialogue en HTTP avec WildFly, qui accède à Oracle via la source de données JTA java:/OracleDS. Power BI et la chaîne ETL Python se connectent directement aux vues décisionnelles de la base.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cas d'utilisation global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oussema_korbosli/rapport-latex/diagrams/uc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904" y="1170432"/>
            <a:ext cx="3985873" cy="5212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46520" y="17007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446520" y="22311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20840" y="20848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acteurs, treize cas d'utilisation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46520" y="26883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720840" y="25420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cas inclut « S'authentifier » (include)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46520" y="31455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20840" y="29992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Administrateur : les 13 cas, sans exception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446520" y="36027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720840" y="34564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 commercial : 5 cas, dont les employés en consultation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46520" y="40599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20840" y="39136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 : 3 cas — pointage, demandes, notifications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classes du modèle métier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pic>
        <p:nvPicPr>
          <p:cNvPr id="7" name="Image 0" descr="/home/user/oussema_korbosli/rapport-latex/diagrams/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29522"/>
            <a:ext cx="7772400" cy="40390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49640" y="1572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49640" y="20665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823960" y="19202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classes groupées en 5 paquetages fonctionnels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549640" y="25237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23960" y="23774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Utilisateur » au centre du modèle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549640" y="29809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23960" y="28346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Rattachements par clés étrangères : SK_AGENCE, SK_GESTIONNAIRE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49640" y="34381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23960" y="32918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Demandes, pointage, journal, notifications : @ManyToOne vers Utilisateur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549640" y="38953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823960" y="37490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DemandeAgence ↔ Utilisateur : @ManyToMany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549640" y="43525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823960" y="42062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héritage ni composition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décisionnel en étoile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SCHÉMAS COMPARÉS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10512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836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Étoile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231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lisible, requêtes rapides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7977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Flocon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2004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normalisées, plus de jointures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22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Constellation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169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tables de faits, surdimensionné ici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47548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grains homogènes — l'agence, puis le couple agence × gestionnaire — et peu de dimensions : l'étoile offre la lisibilité attendue par un outil libre-service comme Power BI.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1810512"/>
            <a:ext cx="5120640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9751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DATAMART CHARGÉ PAR L'ETL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12280" y="23957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86600" y="22494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fait_agence / dim_agence — 7 indicateurs au grain de l'agence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12280" y="28529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86600" y="27066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fait_objectif / dim_gestionnaire — production au grain agence × gestionnaire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12280" y="371246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SÉMANTIQUE POWER BI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12280" y="41330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39867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vues V_BI_* : production, effectifs, clients, présence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812280" y="45902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86600" y="44439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conformes AGENCE (SK_AGENCE) et B_UTILISATEURS (SK_UTILISATEUR)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12280" y="50474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86600" y="49011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et type de client : dimensions dégénérées portées par les vues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 &amp; réalisation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ETL en Python : cinq étapes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des 5 tables sources Oracle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5" name="Text 13"/>
          <p:cNvSpPr/>
          <p:nvPr/>
        </p:nvSpPr>
        <p:spPr>
          <a:xfrm>
            <a:off x="2980944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980944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Nettoyage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80944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incomplètes écartées, typage des colonnes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2896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0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12080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12080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Agrégation par agence des 7 indicateurs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4032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0336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0336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7" name="Text 25"/>
          <p:cNvSpPr/>
          <p:nvPr/>
        </p:nvSpPr>
        <p:spPr>
          <a:xfrm>
            <a:off x="7443216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443216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43216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sur SK_AGENCE, puis regroupement sur SK_UTILISATEUR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45168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491472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1472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9674352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74352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 qualité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74352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 et arrondis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" y="3977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Oracle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86968" y="43525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· B_UTILISATEURS · CLIENT_BTK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B_OBJECTIF · POINTAGE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86968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rejouable, exécutée sur les données réelles du réseau.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53796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2940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consolidées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18972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6" name="Text 44"/>
          <p:cNvSpPr/>
          <p:nvPr/>
        </p:nvSpPr>
        <p:spPr>
          <a:xfrm>
            <a:off x="928116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928116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par agence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Datamart obtenu sur les données réelles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oussema_korbosli/rapport-latex/images/etl/etl_cel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2306" y="1417320"/>
            <a:ext cx="7313484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828032"/>
            <a:ext cx="110642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49743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" y="530352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datamart décrit chaque agence par ses sept indicateurs. BIZERTE et MGHIRA dominent le portefeuille clients, tandis que CENTRALE concentre la production de crédits — une hétérogénéité que la segmentation exploitera.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 du modèle dans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oussema_korbosli/rapport-latex/images/etl/pbi_mode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2" y="1371600"/>
            <a:ext cx="4951473" cy="4754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DU MODÈLE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720840" y="1874520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0" y="1911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B_UTILISATEURS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949440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35640" y="187452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20840" y="2624328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2660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B_CLIENTS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494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835640" y="262432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374136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3410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B_OBJECTIF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494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835640" y="337413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123944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0" y="4160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B_UTILISATEURS → POINTAGE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949440" y="4453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SK_UTILISATEUR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835640" y="412394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20840" y="4956048"/>
            <a:ext cx="4937760" cy="1170432"/>
          </a:xfrm>
          <a:prstGeom prst="roundRect">
            <a:avLst>
              <a:gd name="adj" fmla="val 4688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50840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Filtrage croisé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94944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relations un-à-plusieurs propagent le filtre de la dimension vers les faits : un clic recalcule tous les visuels.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Résumé du réseau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1987"/>
            <a:ext cx="7086600" cy="38568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des indicateurs clés du réseau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pointage sur trois est un retard ou une absence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de production en février, puis tassement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Clients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l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 très majoritairement « particuliers »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concentration sur le Grand Tunis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de développement sur la clientèle professionnelle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Performance commerciale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ommer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83,6 %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 particuliers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équilibrée : immobilier, conso, investissement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chèques dominent les ouvertures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CENTRALE : agence phare, bonnes pratiques à diffuser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Présence &amp; assiduité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pres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pointage auto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adoption du pointage automatique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d'assiduité en avril–mai, repli estival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à surveiller identifiées pour action RH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Environnement technique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s/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764792"/>
            <a:ext cx="585216" cy="58521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2441448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48256" y="1600200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1" name="Image 1" descr="/home/user/oussema_korbosli/rapport-latex/images/logos/jakarta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779270"/>
            <a:ext cx="731520" cy="5562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93976" y="2441448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10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529584" y="1600200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4" name="Image 2" descr="/home/user/oussema_korbosli/rapport-latex/images/logos/hibern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3632" y="1764792"/>
            <a:ext cx="585216" cy="58521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75304" y="2441448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10912" y="1600200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7" name="Image 3" descr="/home/user/oussema_korbosli/rapport-latex/images/logos/ora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1764792"/>
            <a:ext cx="585216" cy="58521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56632" y="2441448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66928" y="3081528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0" name="Image 4" descr="/home/user/oussema_korbosli/rapport-latex/images/logos/wild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3246120"/>
            <a:ext cx="585216" cy="58521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" y="3922776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2048256" y="3081528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3" name="Image 5" descr="/home/user/oussema_korbosli/rapport-latex/images/logos/mav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9152" y="3446526"/>
            <a:ext cx="731520" cy="18440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093976" y="3922776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3529584" y="3081528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6" name="Image 6" descr="/home/user/oussema_korbosli/rapport-latex/images/logos/powerb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3632" y="3246120"/>
            <a:ext cx="585216" cy="585216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575304" y="3922776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28" name="Shape 19"/>
          <p:cNvSpPr/>
          <p:nvPr/>
        </p:nvSpPr>
        <p:spPr>
          <a:xfrm>
            <a:off x="5010912" y="3081528"/>
            <a:ext cx="1353312" cy="131673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9" name="Image 7" descr="/home/user/oussema_korbosli/rapport-latex/images/logos/pyth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94960" y="3246120"/>
            <a:ext cx="585216" cy="585216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56632" y="3922776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1"/>
          <p:cNvSpPr/>
          <p:nvPr/>
        </p:nvSpPr>
        <p:spPr>
          <a:xfrm>
            <a:off x="6446520" y="16276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PILE APPLICATIVE</a:t>
            </a:r>
            <a:endParaRPr lang="en-US" sz="1050" dirty="0"/>
          </a:p>
        </p:txBody>
      </p:sp>
      <p:sp>
        <p:nvSpPr>
          <p:cNvPr id="32" name="Shape 22"/>
          <p:cNvSpPr/>
          <p:nvPr/>
        </p:nvSpPr>
        <p:spPr>
          <a:xfrm>
            <a:off x="6446520" y="210312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6720840" y="19568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 et Jakarta EE 10, empaquetés par Maven</a:t>
            </a:r>
            <a:endParaRPr lang="en-US" sz="1250" dirty="0"/>
          </a:p>
        </p:txBody>
      </p:sp>
      <p:sp>
        <p:nvSpPr>
          <p:cNvPr id="34" name="Shape 24"/>
          <p:cNvSpPr/>
          <p:nvPr/>
        </p:nvSpPr>
        <p:spPr>
          <a:xfrm>
            <a:off x="6446520" y="256032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720840" y="24140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 pour la persistance, base Oracle</a:t>
            </a:r>
            <a:endParaRPr lang="en-US" sz="1250" dirty="0"/>
          </a:p>
        </p:txBody>
      </p:sp>
      <p:sp>
        <p:nvSpPr>
          <p:cNvPr id="36" name="Shape 26"/>
          <p:cNvSpPr/>
          <p:nvPr/>
        </p:nvSpPr>
        <p:spPr>
          <a:xfrm>
            <a:off x="6446520" y="301752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6720840" y="28712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sur WildFly, racine /gestion-agences</a:t>
            </a:r>
            <a:endParaRPr lang="en-US" sz="1250" dirty="0"/>
          </a:p>
        </p:txBody>
      </p:sp>
      <p:sp>
        <p:nvSpPr>
          <p:cNvPr id="38" name="Text 28"/>
          <p:cNvSpPr/>
          <p:nvPr/>
        </p:nvSpPr>
        <p:spPr>
          <a:xfrm>
            <a:off x="6446520" y="360273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</a:t>
            </a:r>
            <a:endParaRPr lang="en-US" sz="1050" dirty="0"/>
          </a:p>
        </p:txBody>
      </p:sp>
      <p:sp>
        <p:nvSpPr>
          <p:cNvPr id="39" name="Shape 29"/>
          <p:cNvSpPr/>
          <p:nvPr/>
        </p:nvSpPr>
        <p:spPr>
          <a:xfrm>
            <a:off x="644652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6720840" y="3931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 en Python (pandas)</a:t>
            </a:r>
            <a:endParaRPr lang="en-US" sz="1250" dirty="0"/>
          </a:p>
        </p:txBody>
      </p:sp>
      <p:sp>
        <p:nvSpPr>
          <p:cNvPr id="41" name="Shape 31"/>
          <p:cNvSpPr/>
          <p:nvPr/>
        </p:nvSpPr>
        <p:spPr>
          <a:xfrm>
            <a:off x="6446520" y="4535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6720840" y="43891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avec scikit-learn</a:t>
            </a:r>
            <a:endParaRPr lang="en-US" sz="1250" dirty="0"/>
          </a:p>
        </p:txBody>
      </p:sp>
      <p:sp>
        <p:nvSpPr>
          <p:cNvPr id="43" name="Shape 33"/>
          <p:cNvSpPr/>
          <p:nvPr/>
        </p:nvSpPr>
        <p:spPr>
          <a:xfrm>
            <a:off x="6446520" y="4992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6720840" y="48463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Power BI sur les vues V_BI_*</a:t>
            </a:r>
            <a:endParaRPr lang="en-US" sz="1250" dirty="0"/>
          </a:p>
        </p:txBody>
      </p:sp>
      <p:sp>
        <p:nvSpPr>
          <p:cNvPr id="45" name="Shape 35"/>
          <p:cNvSpPr/>
          <p:nvPr/>
        </p:nvSpPr>
        <p:spPr>
          <a:xfrm>
            <a:off x="566928" y="4901184"/>
            <a:ext cx="566928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566928" y="4901184"/>
            <a:ext cx="5669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scénarios de tests fonctionnels — tous conformes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 &amp; démonstration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Zoom technique — segmentation par K-Means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regrouper les agences en profils homogènes à partir de six indicateurs réels, sans étiquette préalable (apprentissage non supervisé).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945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94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9616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Prétraitement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99616" y="24505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sur les montants puis centrage-réduction (6 variables)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035808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321868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9616" y="3108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de 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99616" y="34747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Coude et silhouette → k = 3, exploitable pour le pilotage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59936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424281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242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99616" y="4133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44988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hiérarchique, GMM et DBSCAN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5266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266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499616" y="51572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retenu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99616" y="552297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meilleure silhouette (0,604) et cohésion (95,2)</a:t>
            </a:r>
            <a:endParaRPr lang="en-US" sz="1150" dirty="0"/>
          </a:p>
        </p:txBody>
      </p:sp>
      <p:pic>
        <p:nvPicPr>
          <p:cNvPr id="28" name="Image 0" descr="/home/user/oussema_korbosli/rapport-latex/images/clustering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216506"/>
            <a:ext cx="5212080" cy="361370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de la segmentation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41248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 d'exploitation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41248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clients · 12 employés · 7,80 MDT de crédits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différenciés, diffusion des bonnes pratiques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17720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de production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aucun client · 14,61 MDT de crédits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ces financements réalisés hors guichet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Text 21"/>
          <p:cNvSpPr/>
          <p:nvPr/>
        </p:nvSpPr>
        <p:spPr>
          <a:xfrm>
            <a:off x="8394192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394192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sans activité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394192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clientèle, ni comptes, ni production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94192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7" name="Text 25"/>
          <p:cNvSpPr/>
          <p:nvPr/>
        </p:nvSpPr>
        <p:spPr>
          <a:xfrm>
            <a:off x="8394192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Statuer : ouverture, rattachement ou intégration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4132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 décisionnel : différencier les objectifs selon le régime d'activité réel et fiabiliser le référentiel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Parcours de démonstration — les trois rôles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43230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même circuit est suivi de bout en bout : on se connecte, on agit, et l'on voit la trace de l'action.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962656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3145536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25296" y="3127248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45536" y="3145536"/>
            <a:ext cx="77724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49808" y="358444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Identifiants vérifiés, rôle chargé en session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51960" y="2962656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34840" y="3145536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34840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10328" y="3127248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Ajout d'un employé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30568" y="3145536"/>
            <a:ext cx="77724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434840" y="358444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Employé, compte de connexion et rattachement à l'agence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936992" y="2962656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19872" y="3145536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19872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595360" y="3127248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515600" y="3145536"/>
            <a:ext cx="77724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119872" y="358444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Arrivée, départ et statut calculé par le serveur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505456" y="4535424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88336" y="4718304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88336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163824" y="4700016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Demande à valider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84064" y="4718304"/>
            <a:ext cx="77724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688336" y="51572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demande de modification arrive dans sa file d'attente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73368" y="4718304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73368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48856" y="4700016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Assistant intégré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769096" y="4718304"/>
            <a:ext cx="77724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373368" y="51572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en langage naturel sur les données de l'application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66928" y="614476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FB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Chacune de ces cinq étapes est reprise sur la diapositive suivante, capture à l'appui.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de l'administrateur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pic>
        <p:nvPicPr>
          <p:cNvPr id="7" name="Image 0" descr="/home/user/oussema_korbosli/presentation/captures/01-auth-adm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3371" y="1188720"/>
            <a:ext cx="9291353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L'identifiant et le mot de passe sont vérifiés dans SECURITY_USERS ; le rôle est chargé en session et conditionne tout l'accès.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Ajout d'un employé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pic>
        <p:nvPicPr>
          <p:cNvPr id="7" name="Image 0" descr="/home/user/oussema_korbosli/presentation/captures/02-ajout-emplo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8443" y="1188720"/>
            <a:ext cx="9281210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L'administrateur crée l'employé et son compte de connexion, le rattache à son agence, et l'action est inscrite au journal d'audit.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 l'utilisateur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pic>
        <p:nvPicPr>
          <p:cNvPr id="7" name="Image 0" descr="/home/user/oussema_korbosli/presentation/captures/03-pointage-utilisateu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8090" y="1188720"/>
            <a:ext cx="9321917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L'employé pointe son arrivée et son départ ; le statut est calculé par le serveur — au-delà de 9 h, c'est un retard.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demande arrive chez le directeur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pic>
        <p:nvPicPr>
          <p:cNvPr id="7" name="Image 0" descr="/home/user/oussema_korbosli/presentation/captures/04-demande-directeu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3195" y="1188720"/>
            <a:ext cx="9311707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demande de modification passe en attente ; le directeur approuve ou refuse, mais la donnée n'est modifiée qu'après exécution par l'administrateur.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Assistant intégré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pic>
        <p:nvPicPr>
          <p:cNvPr id="7" name="Image 0" descr="/home/user/oussema_korbosli/presentation/captures/05-assist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557" y="1188720"/>
            <a:ext cx="9362983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assistant conversationnel répond aux questions sur les données de l'application, à partir des mêmes indicateurs que le tableau de bord.</a:t>
            </a:r>
            <a:endParaRPr lang="en-US" sz="12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892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91056" y="17465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591056" y="2148840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du réseau : agences, employés, clients, objectifs, rôles, pointage et circuits de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98648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19125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1912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91056" y="3044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91056" y="3447288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Python, datamart en étoile et quatre tableaux de bord Power BI sur les données réelles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97096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48970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4897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91056" y="43434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591056" y="4745736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du réseau en trois profils d'agences directement exploitables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50468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0468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système complet, de la donnée opérationnelle jusqu'à la décision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renforcée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Hachage des mots de passe et durcissement des accès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Industrialisation de l'ETL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1052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Ordonnancement automatique et historisation incrémentale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Analyses prédictives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8696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des objectifs commerciaux par agence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048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REST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avec les autres systèmes de la banque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mobile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8696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des indicateurs en mobilité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9048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048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651052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Alertes automatiques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052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des agences sous les seuils critiques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51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POUR VOTRE ATTENTION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931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pic>
        <p:nvPicPr>
          <p:cNvPr id="13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29200"/>
            <a:ext cx="1417320" cy="859536"/>
          </a:xfrm>
          <a:prstGeom prst="rect">
            <a:avLst/>
          </a:prstGeom>
        </p:spPr>
      </p:pic>
      <p:pic>
        <p:nvPicPr>
          <p:cNvPr id="14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5029200"/>
            <a:ext cx="777240" cy="813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PFE — Gestion des agences BTK</dc:title>
  <dc:subject>PptxGenJS Presentation</dc:subject>
  <dc:creator>Oussema Korbosli</dc:creator>
  <cp:lastModifiedBy>Oussema Korbosli</cp:lastModifiedBy>
  <cp:revision>1</cp:revision>
  <dcterms:created xsi:type="dcterms:W3CDTF">2026-09-03T21:46:49Z</dcterms:created>
  <dcterms:modified xsi:type="dcterms:W3CDTF">2026-09-03T21:46:49Z</dcterms:modified>
</cp:coreProperties>
</file>