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pic>
        <p:nvPicPr>
          <p:cNvPr id="10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1572768" cy="950976"/>
          </a:xfrm>
          <a:prstGeom prst="rect">
            <a:avLst/>
          </a:prstGeom>
        </p:spPr>
      </p:pic>
      <p:pic>
        <p:nvPicPr>
          <p:cNvPr id="11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658368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17830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D'ÉTUDES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21945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Système intelligent de gestion des rôles et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pointage avec tableau de bord décisionnel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566928" y="365760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6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Intelligence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66928" y="4169664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2"/>
          <p:cNvSpPr/>
          <p:nvPr/>
        </p:nvSpPr>
        <p:spPr>
          <a:xfrm>
            <a:off x="566928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Oussema Korbosli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4956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de stage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Melek Aziz Elmoula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66928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académique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Heni Abidi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66928" y="5815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 – Banque Tuniso-Koweïtienne   ·   Année universitaire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834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9776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9776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général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9776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776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des besoins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9776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776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architecture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924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0924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 &amp; réalisation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924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924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 &amp; démonstration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924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1064240" cy="1481328"/>
          </a:xfrm>
          <a:prstGeom prst="roundRect">
            <a:avLst>
              <a:gd name="adj" fmla="val 3704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0149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Une donnée dispersée ne décide rien : c'est en la consolidant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qu'elle devient un instrument de pilotage. 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" y="334670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200400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49 agences réparties sur tout le territoire tunisien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12464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éclatées entre plusieurs fichiers et applications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2452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besoin de piloter la performance commerciale et l'assiduité des équipes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736592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direction qui doit décider vite, sur des indicateurs fiables et à jour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du projet : centraliser la gestion du réseau et transformer les données opérationnelles en indicateurs d'aide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 de l'organisme d'accueil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5321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_bt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643" y="1737360"/>
            <a:ext cx="96393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8529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BTK – Banque Tuniso-Koweïtienne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32688" y="34564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7008" y="33101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universelle de droit tunisien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2688" y="39136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7673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 le 25 février 1981 (coopération Tunisie – Koweït)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3268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42245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de 200 millions de dinars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32688" y="48280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6817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social à Tunis, réseau national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4652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EFFECTUÉ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1847088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47088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8"/>
          <p:cNvSpPr/>
          <p:nvPr/>
        </p:nvSpPr>
        <p:spPr>
          <a:xfrm>
            <a:off x="6720840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20840" y="22677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46520" y="2907792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2907792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2"/>
          <p:cNvSpPr/>
          <p:nvPr/>
        </p:nvSpPr>
        <p:spPr>
          <a:xfrm>
            <a:off x="6720840" y="29992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20840" y="3328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février → 16 juin 2026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6446520" y="3968496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46520" y="3968496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6"/>
          <p:cNvSpPr/>
          <p:nvPr/>
        </p:nvSpPr>
        <p:spPr>
          <a:xfrm>
            <a:off x="6720840" y="40599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2084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mois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446520" y="5029200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46520" y="5029200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0"/>
          <p:cNvSpPr/>
          <p:nvPr/>
        </p:nvSpPr>
        <p:spPr>
          <a:xfrm>
            <a:off x="6720840" y="5120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Encadrement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720840" y="54498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Melek Aziz Elmoula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réseau BTK en chiffres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74720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29 942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91072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15984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15984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9107424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07424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58368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ouverts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83280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474720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crédits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6291072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 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291072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d'épargne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15984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5984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7" name="Text 35"/>
          <p:cNvSpPr/>
          <p:nvPr/>
        </p:nvSpPr>
        <p:spPr>
          <a:xfrm>
            <a:off x="9107424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107424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4132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541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issus du datamart réel produit par la chaîne ETL du projet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Problématiques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10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72768" y="157276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dispersées, saisies et consolidées manuellement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432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80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80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72768" y="274320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suivi de la présence des employés sans traçabilité fiable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913632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5137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513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72768" y="391363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consolidée de la performance du réseau d'agences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321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21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72768" y="5084064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de pilotage indisponibles au moment de décider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Étude de l'existant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ENVISAGÉES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9842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Tableurs Excel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350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manuelle des données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118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Progiciel du marché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4838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intégrée sur étagère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251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Développement sur mesure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617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adaptée au métier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CONSTATÉES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1874520"/>
            <a:ext cx="5120640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2249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1031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d'erreurs et de doublons de saisie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706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25603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gestion des rôles ni des droits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66560" y="31638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30175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traçabilité des opérations sensibles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76656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34747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élevé des progiciels du marché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6656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9319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des indicateurs impossible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52852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285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: une solution développée sur mesure, alignée sur les processus réels de la BTK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proposée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41248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des agences, employés, clients et objectifs · rôles et droits · pointage · circuits de 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· Oracle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17720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17720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ETL consolidant les données dans un datamart en étoile, restitué par des tableaux de bord Power BI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617720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Power 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8394192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94192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394192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automatique des agences en profils homogènes pour un pilotage différencié du réseau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94192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solution, de la saisie opérationnelle jusqu'à l'aide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Méthodologie adoptée : CRISP-DM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centré sur les données : Scrum structure la production logicielle, mais ne couvre pas les étapes d'analyse et de valorisation des données.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Compréhension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métier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423160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23160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96312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Compréhension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279392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79392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352544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Préparation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35624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35624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08776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991856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91856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65008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848088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48088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921240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66928" y="37033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CRISP-DM ?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416966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402336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référence des projets décisionnels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462686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448056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six phases épousent le déroulement réel du projet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66928" y="508406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1248" y="493776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agiles conservées : itérations et validations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37960" y="3950208"/>
            <a:ext cx="51206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84848" y="411480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Correspondance avec le rapport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784848" y="4480560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1–2  →  Chapitres 1 et 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→  Chapitre 3 et chaîne ETL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4–5  →  Chapitre 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→  Chapitre 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Spécifications des besoins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Identification des acteurs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901952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01952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68096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Administrateur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8096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Gère les agences, les employés et les clients · valide les demandes · consulte le journal d'audit · supervise le volet décisionnel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5678424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44568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Directeur commercial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44568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DIRECTEUR_COMMERCIAL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Soumet les demandes de création · valide les modifications des employés · consulte les objectifs et les indicateurs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9454896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210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Utilisateur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321040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9419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les données autorisées · effectue son pointage · soumet les demandes le concernant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sont gérés par le module de sécurité (table SECURITY_USERS) et conditionnent l'accès à chaque fonctionnalité.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&amp; rôles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2704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sécurisée, gestion des droits d'accès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5060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référentiel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15060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des agences, des employés et des clients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2704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Objectifs commerciaux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2704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production par agence et par période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2823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642823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5060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des employés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15060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/ départ, statut présent · retard · absent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52704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Circuits de validation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52704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 soumises, validées ou refusées, journalisées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823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5060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15060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ETL, tableaux de bord et segmentation des agences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non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Authentification, rôles et workflows de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garantie par le SGBD et les transactions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19872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94192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adapté aux volumes manipulés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Ergonomie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claire, navigation par menu latéral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Maintenabilité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couches, code faiblement couplé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9872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8394192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Portabilité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94192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Jakarta EE standard, serveur compatible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Conception &amp; architecture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logique en couches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664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JSP / JSTL et graphiques ApexCharts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606040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2606040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88696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6968" y="308152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Servlets et filtre de sécurité (NotificationFilter)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39312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639312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730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1148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EJB encapsulant les règles de gestion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72584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4672584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8696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JPA / Hibernate vers la base Oracle</a:t>
            </a:r>
            <a:endParaRPr lang="en-US" sz="1200" dirty="0"/>
          </a:p>
        </p:txBody>
      </p:sp>
      <p:pic>
        <p:nvPicPr>
          <p:cNvPr id="23" name="Image 0" descr="/home/user/oussema_korbosli/rapport-latex/diagrams/archi_log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6996" y="1572768"/>
            <a:ext cx="3599848" cy="40233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MVC : chaque couche est indépendante et faiblement couplée aux autres.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physique (3-tiers)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 client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4096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d'applications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 · WAR Jakarta EE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99632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de données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FREEPDB1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0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15984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53144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Restitution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53144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Python ETL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4988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846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dialogue en HTTP avec WildFly, qui accède à Oracle via la source de données JTA java:/OracleDS. Power BI et la chaîne ETL Python se connectent directement aux vues décisionnelles de la base.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cas d'utilisation global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oussema_korbosli/rapport-latex/diagrams/uc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740" y="1298448"/>
            <a:ext cx="7444217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41080" y="15727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641080" y="20482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19019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acteurs distincts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641080" y="25054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23591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S'authentifier » commun à tous (include)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641080" y="29626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28163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L'administrateur concentre la gestion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41080" y="34198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15400" y="32735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directeur soumet et consulte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641080" y="38770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915400" y="37307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L'utilisateur pointe et consulte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décisionnel en étoile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SCHÉMAS COMPARÉS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10512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836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Étoile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231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lisible, requêtes rapides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7977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Flocon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2004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normalisées, plus de jointures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22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Constellation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169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tables de faits, surdimensionné ici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47548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grain unique — l'agence — et peu de dimensions : le modèle en étoile offre la lisibilité attendue par un outil libre-service comme Power BI.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1810512"/>
            <a:ext cx="5120640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9933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fait_agence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12280" y="237744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Effectif · gestionnaires · clients · comptes ouverts · production de crédits · collecte d'épargne · taux de présence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12280" y="32004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DE DIMENSIONS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81228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86600" y="34747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dim_agence — libellé, district, région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1228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86600" y="39319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— analyse par mois et exercice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812280" y="4535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86600" y="43891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gestionnaire — portefeuille par responsable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812280" y="4992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86600" y="48463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type_client — particulier, société, entreprise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 &amp; réalisation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ETL en Python : cinq étapes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des 5 tables sources Oracle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5" name="Text 13"/>
          <p:cNvSpPr/>
          <p:nvPr/>
        </p:nvSpPr>
        <p:spPr>
          <a:xfrm>
            <a:off x="2980944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980944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Nettoyage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80944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incomplètes écartées, typage des colonnes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2896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0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12080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12080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Agrégation par agence des 7 indicateurs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4032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0336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0336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7" name="Text 25"/>
          <p:cNvSpPr/>
          <p:nvPr/>
        </p:nvSpPr>
        <p:spPr>
          <a:xfrm>
            <a:off x="7443216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443216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43216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des sources sur la clé SK_AGENCE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45168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491472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1472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9674352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74352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 qualité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74352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manquantes, arrondis et journal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" y="3977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Oracle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86968" y="43525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· B_UTILISATEURS · B_CLIENTS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B_OBJECTIF · POINTAGE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86968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rejouable, exécutée sur les données réelles du réseau.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53796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2940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consolidées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18972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6" name="Text 44"/>
          <p:cNvSpPr/>
          <p:nvPr/>
        </p:nvSpPr>
        <p:spPr>
          <a:xfrm>
            <a:off x="928116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928116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par agence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Datamart obtenu sur les données réelles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0" descr="/home/user/oussema_korbosli/rapport-latex/images/etl/etl_cel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2306" y="1417320"/>
            <a:ext cx="7313484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828032"/>
            <a:ext cx="110642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49743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" y="530352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datamart décrit chaque agence par ses sept indicateurs. BIZERTE et MGHIRA dominent le portefeuille clients, tandis que CENTRALE concentre la production de crédits — une hétérogénéité que la segmentation exploitera.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 du modèle dans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oussema_korbosli/rapport-latex/images/etl/pbi_mode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2" y="1371600"/>
            <a:ext cx="4951473" cy="4754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DU MODÈLE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720840" y="1874520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0" y="1911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B_UTILISATEURS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949440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35640" y="187452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20840" y="2624328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2660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B_CLIENTS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494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835640" y="262432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374136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3410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B_OBJECTIF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494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835640" y="337413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123944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0" y="4160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B_UTILISATEURS → POINTAGE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949440" y="4453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SK_UTILISATEUR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835640" y="412394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20840" y="4956048"/>
            <a:ext cx="4937760" cy="1170432"/>
          </a:xfrm>
          <a:prstGeom prst="roundRect">
            <a:avLst>
              <a:gd name="adj" fmla="val 4688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50840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Filtrage croisé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94944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relations un-à-plusieurs propagent le filtre de la dimension vers les faits : un clic recalcule tous les visuels.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Résumé du réseau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1987"/>
            <a:ext cx="7086600" cy="38568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des indicateurs clés du réseau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pointage sur trois est un retard ou une absence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de production en février, puis tassement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Clients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l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 très majoritairement « particuliers »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concentration sur le Grand Tunis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de développement sur la clientèle professionnelle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Performance commerciale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ommer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83,6 %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 particuliers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équilibrée : immobilier, conso, investissement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chèques dominent les ouvertures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CENTRALE : agence phare, bonnes pratiques à diffuser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Présence &amp; assiduité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pres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pointage auto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adoption du pointage automatique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d'assiduité en avril–mai, repli estival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à surveiller identifiées pour action RH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Réalisation et environnement technique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s/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00784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48256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1" name="Image 1" descr="/home/user/oussema_korbosli/rapport-latex/images/logos/jakarta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706118"/>
            <a:ext cx="731520" cy="5562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93976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10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529584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4" name="Image 2" descr="/home/user/oussema_korbosli/rapport-latex/images/logos/hibern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2776" y="1700784"/>
            <a:ext cx="566928" cy="5669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75304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10912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7" name="Image 3" descr="/home/user/oussema_korbosli/rapport-latex/images/logos/ora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4104" y="1700784"/>
            <a:ext cx="566928" cy="5669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56632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66928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0" name="Image 4" descr="/home/user/oussema_korbosli/rapport-latex/images/logos/wild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18104"/>
            <a:ext cx="566928" cy="56692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2048256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3" name="Image 5" descr="/home/user/oussema_korbosli/rapport-latex/images/logos/mav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9152" y="3309366"/>
            <a:ext cx="731520" cy="18440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093976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3529584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6" name="Image 6" descr="/home/user/oussema_korbosli/rapport-latex/images/logos/powerb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2776" y="3118104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575304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28" name="Shape 19"/>
          <p:cNvSpPr/>
          <p:nvPr/>
        </p:nvSpPr>
        <p:spPr>
          <a:xfrm>
            <a:off x="5010912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9" name="Image 7" descr="/home/user/oussema_korbosli/rapport-latex/images/logos/pyth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4104" y="3118104"/>
            <a:ext cx="566928" cy="56692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56632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1"/>
          <p:cNvSpPr/>
          <p:nvPr/>
        </p:nvSpPr>
        <p:spPr>
          <a:xfrm>
            <a:off x="566928" y="448056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packagée par Maven et déployée sur WildFly ; chaîne ETL et segmentation en Python (pandas, scikit-learn).</a:t>
            </a:r>
            <a:endParaRPr 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566928" y="5230368"/>
            <a:ext cx="566928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566928" y="5230368"/>
            <a:ext cx="5669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scénarios de tests fonctionnels — tous conformes</a:t>
            </a:r>
            <a:endParaRPr lang="en-US" sz="1250" dirty="0"/>
          </a:p>
        </p:txBody>
      </p:sp>
      <p:pic>
        <p:nvPicPr>
          <p:cNvPr id="34" name="Image 8" descr="/home/user/oussema_korbosli/rapport-latex/images/screens/point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1797057"/>
            <a:ext cx="5212080" cy="2623805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46520" y="4754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 pointage : cartes de synthèse, pointage du jour et saisie manuelle.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 &amp; démonstration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Zoom technique — segmentation par K-Means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regrouper les agences en profils homogènes à partir de leurs sept indicateurs, sans étiquette préalable (apprentissage non supervisé).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945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94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9616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Standardisation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99616" y="24505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Centrage-réduction des 7 variables (StandardScaler)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035808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321868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9616" y="3108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de 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99616" y="34747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 du coude et score de silhouette → k = 3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59936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424281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242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99616" y="4133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44988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hiérarchique, GMM et DBSCAN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5266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266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499616" y="51572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retenu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99616" y="552297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silhouette 0,736 · Davies-Bouldin 0,350</a:t>
            </a:r>
            <a:endParaRPr lang="en-US" sz="1150" dirty="0"/>
          </a:p>
        </p:txBody>
      </p:sp>
      <p:pic>
        <p:nvPicPr>
          <p:cNvPr id="28" name="Image 0" descr="/home/user/oussema_korbosli/rapport-latex/images/clustering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150269"/>
            <a:ext cx="5212080" cy="3746183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de la segmentation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41248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Grandes agences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41248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Effectif et production élevés · présence 0,98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ambitieux, agences de référence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17720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 moyennes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Activité intermédiaire · présence 0,94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 potentiel : équipement et collecte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Text 21"/>
          <p:cNvSpPr/>
          <p:nvPr/>
        </p:nvSpPr>
        <p:spPr>
          <a:xfrm>
            <a:off x="8394192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394192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Petites agences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394192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Effectif et activité réduits · présence 0,87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94192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7" name="Text 25"/>
          <p:cNvSpPr/>
          <p:nvPr/>
        </p:nvSpPr>
        <p:spPr>
          <a:xfrm>
            <a:off x="8394192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Accompagnement ciblé et suivi de l'assiduité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4132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 décisionnel : allouer les ressources selon la taille, différencier les objectifs et accompagner les agences les plus fragiles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25146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2926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Démonstration en direct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66928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web · tableau de bord embarqué · rapport Power BI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43434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892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91056" y="17465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591056" y="2148840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du réseau : agences, employés, clients, objectifs, rôles, pointage et circuits de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98648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19125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1912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91056" y="3044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91056" y="3447288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Python, datamart en étoile et quatre tableaux de bord Power BI sur les données réelles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97096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48970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4897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91056" y="43434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591056" y="4745736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du réseau en trois profils d'agences directement exploitables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50468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0468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système complet, de la donnée opérationnelle jusqu'à la décision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renforcée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Hachage des mots de passe et durcissement des accès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Industrialisation de l'ETL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1052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Ordonnancement automatique et historisation incrémentale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Analyses prédictives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8696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des objectifs commerciaux par agence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048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REST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avec les autres systèmes de la banque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mobile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8696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des indicateurs en mobilité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9048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048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651052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Alertes automatiques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052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des agences sous les seuils critiques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51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POUR VOTRE ATTENTION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931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pic>
        <p:nvPicPr>
          <p:cNvPr id="13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29200"/>
            <a:ext cx="1417320" cy="859536"/>
          </a:xfrm>
          <a:prstGeom prst="rect">
            <a:avLst/>
          </a:prstGeom>
        </p:spPr>
      </p:pic>
      <p:pic>
        <p:nvPicPr>
          <p:cNvPr id="14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5029200"/>
            <a:ext cx="777240" cy="813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PFE — Gestion des agences BTK</dc:title>
  <dc:subject>PptxGenJS Presentation</dc:subject>
  <dc:creator>Oussema Korbosli</dc:creator>
  <cp:lastModifiedBy>Oussema Korbosli</cp:lastModifiedBy>
  <cp:revision>1</cp:revision>
  <dcterms:created xsi:type="dcterms:W3CDTF">2026-08-26T21:43:21Z</dcterms:created>
  <dcterms:modified xsi:type="dcterms:W3CDTF">2026-08-26T21:43:21Z</dcterms:modified>
</cp:coreProperties>
</file>